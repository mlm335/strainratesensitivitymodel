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52"/>
    <p:restoredTop sz="94610"/>
  </p:normalViewPr>
  <p:slideViewPr>
    <p:cSldViewPr snapToGrid="0" snapToObjects="1">
      <p:cViewPr varScale="1">
        <p:scale>
          <a:sx n="162" d="100"/>
          <a:sy n="162" d="100"/>
        </p:scale>
        <p:origin x="224"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9128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Schematic of the travel-and-wait picture behind the unified flow rule. All shapes are editable.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per mechanism. Colours match the schematic on slide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686800" cy="548640"/>
          </a:xfrm>
          <a:prstGeom prst="rect">
            <a:avLst/>
          </a:prstGeom>
          <a:noFill/>
          <a:ln/>
        </p:spPr>
        <p:txBody>
          <a:bodyPr wrap="square" lIns="0" tIns="0" rIns="0" bIns="0" rtlCol="0" anchor="ctr"/>
          <a:lstStyle/>
          <a:p>
            <a:pPr marL="0" indent="0">
              <a:buNone/>
            </a:pPr>
            <a:r>
              <a:rPr lang="en-US" sz="3800" b="1" dirty="0">
                <a:solidFill>
                  <a:srgbClr val="21295C"/>
                </a:solidFill>
                <a:latin typeface="Cambria" pitchFamily="34" charset="0"/>
                <a:ea typeface="Cambria" pitchFamily="34" charset="-122"/>
                <a:cs typeface="Cambria" pitchFamily="34" charset="-120"/>
              </a:rPr>
              <a:t>A dislocation travels, then waits</a:t>
            </a:r>
            <a:endParaRPr lang="en-US" sz="3800" dirty="0"/>
          </a:p>
        </p:txBody>
      </p:sp>
      <p:sp>
        <p:nvSpPr>
          <p:cNvPr id="3" name="Text 1"/>
          <p:cNvSpPr txBox="1"/>
          <p:nvPr/>
        </p:nvSpPr>
        <p:spPr>
          <a:xfrm>
            <a:off x="521208" y="896112"/>
            <a:ext cx="10515600" cy="365760"/>
          </a:xfrm>
          <a:prstGeom prst="rect">
            <a:avLst/>
          </a:prstGeom>
          <a:noFill/>
          <a:ln/>
        </p:spPr>
        <p:txBody>
          <a:bodyPr wrap="square" lIns="0" tIns="0" rIns="0" bIns="0" rtlCol="0" anchor="ctr"/>
          <a:lstStyle/>
          <a:p>
            <a:pPr marL="0" indent="0">
              <a:buNone/>
            </a:pPr>
            <a:r>
              <a:rPr lang="en-US" sz="1400" dirty="0">
                <a:solidFill>
                  <a:srgbClr val="5A6472"/>
                </a:solidFill>
                <a:latin typeface="Calibri" pitchFamily="34" charset="0"/>
                <a:ea typeface="Calibri" pitchFamily="34" charset="-122"/>
                <a:cs typeface="Calibri" pitchFamily="34" charset="-120"/>
              </a:rPr>
              <a:t>Everything in the model is a statement about how long a segment spends travelling and how long it spends held up</a:t>
            </a:r>
            <a:endParaRPr lang="en-US" sz="1400" dirty="0"/>
          </a:p>
        </p:txBody>
      </p:sp>
      <p:sp>
        <p:nvSpPr>
          <p:cNvPr id="4" name="Shape 2"/>
          <p:cNvSpPr/>
          <p:nvPr/>
        </p:nvSpPr>
        <p:spPr>
          <a:xfrm>
            <a:off x="502920" y="1508760"/>
            <a:ext cx="11155680" cy="2514600"/>
          </a:xfrm>
          <a:prstGeom prst="rect">
            <a:avLst/>
          </a:prstGeom>
          <a:solidFill>
            <a:srgbClr val="EEF2F6"/>
          </a:solidFill>
          <a:ln w="12700">
            <a:solidFill>
              <a:srgbClr val="C9D3DC"/>
            </a:solidFill>
            <a:prstDash val="solid"/>
          </a:ln>
        </p:spPr>
        <p:txBody>
          <a:bodyPr/>
          <a:lstStyle/>
          <a:p>
            <a:endParaRPr lang="en-US"/>
          </a:p>
        </p:txBody>
      </p:sp>
      <p:sp>
        <p:nvSpPr>
          <p:cNvPr id="5" name="Text 3"/>
          <p:cNvSpPr txBox="1"/>
          <p:nvPr/>
        </p:nvSpPr>
        <p:spPr>
          <a:xfrm>
            <a:off x="658368" y="3675888"/>
            <a:ext cx="1280160" cy="274320"/>
          </a:xfrm>
          <a:prstGeom prst="rect">
            <a:avLst/>
          </a:prstGeom>
          <a:noFill/>
          <a:ln/>
        </p:spPr>
        <p:txBody>
          <a:bodyPr wrap="square" lIns="0" tIns="0" rIns="0" bIns="0"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slip plane</a:t>
            </a:r>
            <a:endParaRPr lang="en-US" sz="1100" dirty="0"/>
          </a:p>
        </p:txBody>
      </p:sp>
      <p:sp>
        <p:nvSpPr>
          <p:cNvPr id="6" name="Shape 4"/>
          <p:cNvSpPr/>
          <p:nvPr/>
        </p:nvSpPr>
        <p:spPr>
          <a:xfrm>
            <a:off x="822960" y="1783080"/>
            <a:ext cx="10515600" cy="0"/>
          </a:xfrm>
          <a:prstGeom prst="line">
            <a:avLst/>
          </a:prstGeom>
          <a:noFill/>
          <a:ln w="12700">
            <a:solidFill>
              <a:srgbClr val="5A6472"/>
            </a:solidFill>
            <a:prstDash val="dash"/>
            <a:tailEnd type="triangle"/>
          </a:ln>
        </p:spPr>
        <p:txBody>
          <a:bodyPr/>
          <a:lstStyle/>
          <a:p>
            <a:endParaRPr lang="en-US"/>
          </a:p>
        </p:txBody>
      </p:sp>
      <p:sp>
        <p:nvSpPr>
          <p:cNvPr id="7" name="Text 5"/>
          <p:cNvSpPr txBox="1"/>
          <p:nvPr/>
        </p:nvSpPr>
        <p:spPr>
          <a:xfrm>
            <a:off x="9784080" y="1463040"/>
            <a:ext cx="1645920" cy="274320"/>
          </a:xfrm>
          <a:prstGeom prst="rect">
            <a:avLst/>
          </a:prstGeom>
          <a:noFill/>
          <a:ln/>
        </p:spPr>
        <p:txBody>
          <a:bodyPr wrap="square" lIns="0" tIns="0" rIns="0" bIns="0" rtlCol="0" anchor="ctr"/>
          <a:lstStyle/>
          <a:p>
            <a:pPr marL="0" indent="0" algn="r">
              <a:buNone/>
            </a:pPr>
            <a:r>
              <a:rPr lang="en-US" sz="1100" dirty="0">
                <a:solidFill>
                  <a:srgbClr val="5A6472"/>
                </a:solidFill>
                <a:latin typeface="Calibri" pitchFamily="34" charset="0"/>
                <a:ea typeface="Calibri" pitchFamily="34" charset="-122"/>
                <a:cs typeface="Calibri" pitchFamily="34" charset="-120"/>
              </a:rPr>
              <a:t>glide direction</a:t>
            </a:r>
            <a:endParaRPr lang="en-US" sz="1100" dirty="0"/>
          </a:p>
        </p:txBody>
      </p:sp>
      <p:sp>
        <p:nvSpPr>
          <p:cNvPr id="8" name="Shape 6"/>
          <p:cNvSpPr/>
          <p:nvPr/>
        </p:nvSpPr>
        <p:spPr>
          <a:xfrm>
            <a:off x="868680" y="2880360"/>
            <a:ext cx="1143000" cy="0"/>
          </a:xfrm>
          <a:prstGeom prst="line">
            <a:avLst/>
          </a:prstGeom>
          <a:noFill/>
          <a:ln w="44450">
            <a:solidFill>
              <a:srgbClr val="1C7293"/>
            </a:solidFill>
            <a:prstDash val="solid"/>
          </a:ln>
        </p:spPr>
        <p:txBody>
          <a:bodyPr/>
          <a:lstStyle/>
          <a:p>
            <a:endParaRPr lang="en-US"/>
          </a:p>
        </p:txBody>
      </p:sp>
      <p:sp>
        <p:nvSpPr>
          <p:cNvPr id="9" name="Shape 7"/>
          <p:cNvSpPr/>
          <p:nvPr/>
        </p:nvSpPr>
        <p:spPr>
          <a:xfrm>
            <a:off x="2011680" y="2880360"/>
            <a:ext cx="0" cy="0"/>
          </a:xfrm>
          <a:prstGeom prst="line">
            <a:avLst/>
          </a:prstGeom>
          <a:noFill/>
          <a:ln w="44450">
            <a:solidFill>
              <a:srgbClr val="1C7293"/>
            </a:solidFill>
            <a:prstDash val="solid"/>
          </a:ln>
        </p:spPr>
        <p:txBody>
          <a:bodyPr/>
          <a:lstStyle/>
          <a:p>
            <a:endParaRPr lang="en-US"/>
          </a:p>
        </p:txBody>
      </p:sp>
      <p:sp>
        <p:nvSpPr>
          <p:cNvPr id="10" name="Shape 8"/>
          <p:cNvSpPr/>
          <p:nvPr/>
        </p:nvSpPr>
        <p:spPr>
          <a:xfrm>
            <a:off x="2011680" y="2496312"/>
            <a:ext cx="731520" cy="0"/>
          </a:xfrm>
          <a:prstGeom prst="line">
            <a:avLst/>
          </a:prstGeom>
          <a:noFill/>
          <a:ln w="44450">
            <a:solidFill>
              <a:srgbClr val="1C7293"/>
            </a:solidFill>
            <a:prstDash val="solid"/>
          </a:ln>
        </p:spPr>
        <p:txBody>
          <a:bodyPr/>
          <a:lstStyle/>
          <a:p>
            <a:endParaRPr lang="en-US"/>
          </a:p>
        </p:txBody>
      </p:sp>
      <p:sp>
        <p:nvSpPr>
          <p:cNvPr id="11" name="Shape 9"/>
          <p:cNvSpPr/>
          <p:nvPr/>
        </p:nvSpPr>
        <p:spPr>
          <a:xfrm>
            <a:off x="2743200" y="2496312"/>
            <a:ext cx="0" cy="384048"/>
          </a:xfrm>
          <a:prstGeom prst="line">
            <a:avLst/>
          </a:prstGeom>
          <a:noFill/>
          <a:ln w="44450">
            <a:solidFill>
              <a:srgbClr val="1C7293"/>
            </a:solidFill>
            <a:prstDash val="solid"/>
          </a:ln>
        </p:spPr>
        <p:txBody>
          <a:bodyPr/>
          <a:lstStyle/>
          <a:p>
            <a:endParaRPr lang="en-US"/>
          </a:p>
        </p:txBody>
      </p:sp>
      <p:sp>
        <p:nvSpPr>
          <p:cNvPr id="12" name="Shape 10"/>
          <p:cNvSpPr/>
          <p:nvPr/>
        </p:nvSpPr>
        <p:spPr>
          <a:xfrm>
            <a:off x="2743200" y="2880360"/>
            <a:ext cx="868680" cy="0"/>
          </a:xfrm>
          <a:prstGeom prst="line">
            <a:avLst/>
          </a:prstGeom>
          <a:noFill/>
          <a:ln w="44450">
            <a:solidFill>
              <a:srgbClr val="1C7293"/>
            </a:solidFill>
            <a:prstDash val="solid"/>
          </a:ln>
        </p:spPr>
        <p:txBody>
          <a:bodyPr/>
          <a:lstStyle/>
          <a:p>
            <a:endParaRPr lang="en-US"/>
          </a:p>
        </p:txBody>
      </p:sp>
      <p:sp>
        <p:nvSpPr>
          <p:cNvPr id="13" name="Text 11"/>
          <p:cNvSpPr txBox="1"/>
          <p:nvPr/>
        </p:nvSpPr>
        <p:spPr>
          <a:xfrm>
            <a:off x="1847088" y="2084832"/>
            <a:ext cx="1097280" cy="256032"/>
          </a:xfrm>
          <a:prstGeom prst="rect">
            <a:avLst/>
          </a:prstGeom>
          <a:noFill/>
          <a:ln/>
        </p:spPr>
        <p:txBody>
          <a:bodyPr wrap="square" lIns="0" tIns="0" rIns="0" bIns="0" rtlCol="0" anchor="ctr"/>
          <a:lstStyle/>
          <a:p>
            <a:pPr marL="0" indent="0" algn="ctr">
              <a:buNone/>
            </a:pPr>
            <a:r>
              <a:rPr lang="en-US" sz="1100" b="1" dirty="0">
                <a:solidFill>
                  <a:srgbClr val="1C7293"/>
                </a:solidFill>
                <a:latin typeface="Calibri" pitchFamily="34" charset="0"/>
                <a:ea typeface="Calibri" pitchFamily="34" charset="-122"/>
                <a:cs typeface="Calibri" pitchFamily="34" charset="-120"/>
              </a:rPr>
              <a:t>kink pair</a:t>
            </a:r>
            <a:endParaRPr lang="en-US" sz="1100" dirty="0"/>
          </a:p>
        </p:txBody>
      </p:sp>
      <p:sp>
        <p:nvSpPr>
          <p:cNvPr id="14" name="Shape 12"/>
          <p:cNvSpPr/>
          <p:nvPr/>
        </p:nvSpPr>
        <p:spPr>
          <a:xfrm>
            <a:off x="2377440" y="2359152"/>
            <a:ext cx="0" cy="109728"/>
          </a:xfrm>
          <a:prstGeom prst="line">
            <a:avLst/>
          </a:prstGeom>
          <a:noFill/>
          <a:ln w="12700">
            <a:solidFill>
              <a:srgbClr val="1C7293"/>
            </a:solidFill>
            <a:prstDash val="solid"/>
          </a:ln>
        </p:spPr>
        <p:txBody>
          <a:bodyPr/>
          <a:lstStyle/>
          <a:p>
            <a:endParaRPr lang="en-US"/>
          </a:p>
        </p:txBody>
      </p:sp>
      <p:sp>
        <p:nvSpPr>
          <p:cNvPr id="15" name="Shape 13"/>
          <p:cNvSpPr/>
          <p:nvPr/>
        </p:nvSpPr>
        <p:spPr>
          <a:xfrm>
            <a:off x="4206240" y="2633472"/>
            <a:ext cx="502920" cy="502920"/>
          </a:xfrm>
          <a:prstGeom prst="ellipse">
            <a:avLst/>
          </a:prstGeom>
          <a:solidFill>
            <a:srgbClr val="B85042"/>
          </a:solidFill>
          <a:ln w="12700">
            <a:solidFill>
              <a:srgbClr val="B85042"/>
            </a:solidFill>
            <a:prstDash val="solid"/>
          </a:ln>
        </p:spPr>
        <p:txBody>
          <a:bodyPr/>
          <a:lstStyle/>
          <a:p>
            <a:endParaRPr lang="en-US"/>
          </a:p>
        </p:txBody>
      </p:sp>
      <p:sp>
        <p:nvSpPr>
          <p:cNvPr id="16" name="Shape 14"/>
          <p:cNvSpPr/>
          <p:nvPr/>
        </p:nvSpPr>
        <p:spPr>
          <a:xfrm>
            <a:off x="3611880" y="2880360"/>
            <a:ext cx="384048" cy="0"/>
          </a:xfrm>
          <a:prstGeom prst="line">
            <a:avLst/>
          </a:prstGeom>
          <a:noFill/>
          <a:ln w="44450">
            <a:solidFill>
              <a:srgbClr val="1C7293"/>
            </a:solidFill>
            <a:prstDash val="solid"/>
          </a:ln>
        </p:spPr>
        <p:txBody>
          <a:bodyPr/>
          <a:lstStyle/>
          <a:p>
            <a:endParaRPr lang="en-US"/>
          </a:p>
        </p:txBody>
      </p:sp>
      <p:sp>
        <p:nvSpPr>
          <p:cNvPr id="17" name="Shape 15"/>
          <p:cNvSpPr/>
          <p:nvPr/>
        </p:nvSpPr>
        <p:spPr>
          <a:xfrm>
            <a:off x="3995928" y="2880360"/>
            <a:ext cx="320040" cy="0"/>
          </a:xfrm>
          <a:prstGeom prst="line">
            <a:avLst/>
          </a:prstGeom>
          <a:noFill/>
          <a:ln w="44450">
            <a:solidFill>
              <a:srgbClr val="1C7293"/>
            </a:solidFill>
            <a:prstDash val="solid"/>
          </a:ln>
        </p:spPr>
        <p:txBody>
          <a:bodyPr/>
          <a:lstStyle/>
          <a:p>
            <a:endParaRPr lang="en-US"/>
          </a:p>
        </p:txBody>
      </p:sp>
      <p:sp>
        <p:nvSpPr>
          <p:cNvPr id="18" name="Shape 16"/>
          <p:cNvSpPr/>
          <p:nvPr/>
        </p:nvSpPr>
        <p:spPr>
          <a:xfrm>
            <a:off x="4315968" y="2514600"/>
            <a:ext cx="292608" cy="0"/>
          </a:xfrm>
          <a:prstGeom prst="line">
            <a:avLst/>
          </a:prstGeom>
          <a:noFill/>
          <a:ln w="44450">
            <a:solidFill>
              <a:srgbClr val="1C7293"/>
            </a:solidFill>
            <a:prstDash val="solid"/>
          </a:ln>
        </p:spPr>
        <p:txBody>
          <a:bodyPr/>
          <a:lstStyle/>
          <a:p>
            <a:endParaRPr lang="en-US"/>
          </a:p>
        </p:txBody>
      </p:sp>
      <p:sp>
        <p:nvSpPr>
          <p:cNvPr id="19" name="Shape 17"/>
          <p:cNvSpPr/>
          <p:nvPr/>
        </p:nvSpPr>
        <p:spPr>
          <a:xfrm>
            <a:off x="4608576" y="2514600"/>
            <a:ext cx="320040" cy="365760"/>
          </a:xfrm>
          <a:prstGeom prst="line">
            <a:avLst/>
          </a:prstGeom>
          <a:noFill/>
          <a:ln w="44450">
            <a:solidFill>
              <a:srgbClr val="1C7293"/>
            </a:solidFill>
            <a:prstDash val="solid"/>
          </a:ln>
        </p:spPr>
        <p:txBody>
          <a:bodyPr/>
          <a:lstStyle/>
          <a:p>
            <a:endParaRPr lang="en-US"/>
          </a:p>
        </p:txBody>
      </p:sp>
      <p:sp>
        <p:nvSpPr>
          <p:cNvPr id="20" name="Shape 18"/>
          <p:cNvSpPr/>
          <p:nvPr/>
        </p:nvSpPr>
        <p:spPr>
          <a:xfrm>
            <a:off x="4928616" y="2880360"/>
            <a:ext cx="457200" cy="0"/>
          </a:xfrm>
          <a:prstGeom prst="line">
            <a:avLst/>
          </a:prstGeom>
          <a:noFill/>
          <a:ln w="44450">
            <a:solidFill>
              <a:srgbClr val="1C7293"/>
            </a:solidFill>
            <a:prstDash val="solid"/>
          </a:ln>
        </p:spPr>
        <p:txBody>
          <a:bodyPr/>
          <a:lstStyle/>
          <a:p>
            <a:endParaRPr lang="en-US"/>
          </a:p>
        </p:txBody>
      </p:sp>
      <p:sp>
        <p:nvSpPr>
          <p:cNvPr id="21" name="Text 19"/>
          <p:cNvSpPr txBox="1"/>
          <p:nvPr/>
        </p:nvSpPr>
        <p:spPr>
          <a:xfrm>
            <a:off x="3520440" y="3127248"/>
            <a:ext cx="2011680" cy="502920"/>
          </a:xfrm>
          <a:prstGeom prst="rect">
            <a:avLst/>
          </a:prstGeom>
          <a:noFill/>
          <a:ln/>
        </p:spPr>
        <p:txBody>
          <a:bodyPr wrap="square" lIns="0" tIns="0" rIns="0" bIns="0" rtlCol="0" anchor="ctr"/>
          <a:lstStyle/>
          <a:p>
            <a:pPr marL="0" indent="0" algn="ctr">
              <a:buNone/>
            </a:pPr>
            <a:r>
              <a:rPr lang="en-US" sz="1100" dirty="0">
                <a:solidFill>
                  <a:srgbClr val="21295C"/>
                </a:solidFill>
                <a:latin typeface="Calibri" pitchFamily="34" charset="0"/>
                <a:ea typeface="Calibri" pitchFamily="34" charset="-122"/>
                <a:cs typeface="Calibri" pitchFamily="34" charset="-120"/>
              </a:rPr>
              <a:t>held at a particle,</a:t>
            </a:r>
            <a:endParaRPr lang="en-US" sz="1100" dirty="0"/>
          </a:p>
          <a:p>
            <a:pPr marL="0" indent="0" algn="ctr">
              <a:buNone/>
            </a:pPr>
            <a:r>
              <a:rPr lang="en-US" sz="1100" dirty="0">
                <a:solidFill>
                  <a:srgbClr val="21295C"/>
                </a:solidFill>
                <a:latin typeface="Calibri" pitchFamily="34" charset="0"/>
                <a:ea typeface="Calibri" pitchFamily="34" charset="-122"/>
                <a:cs typeface="Calibri" pitchFamily="34" charset="-120"/>
              </a:rPr>
              <a:t>the line bows out</a:t>
            </a:r>
            <a:endParaRPr lang="en-US" sz="1100" dirty="0"/>
          </a:p>
        </p:txBody>
      </p:sp>
      <p:sp>
        <p:nvSpPr>
          <p:cNvPr id="22" name="Shape 20"/>
          <p:cNvSpPr/>
          <p:nvPr/>
        </p:nvSpPr>
        <p:spPr>
          <a:xfrm>
            <a:off x="6446520" y="2487168"/>
            <a:ext cx="420624" cy="713232"/>
          </a:xfrm>
          <a:prstGeom prst="line">
            <a:avLst/>
          </a:prstGeom>
          <a:noFill/>
          <a:ln w="31750">
            <a:solidFill>
              <a:srgbClr val="21295C"/>
            </a:solidFill>
            <a:prstDash val="solid"/>
          </a:ln>
        </p:spPr>
        <p:txBody>
          <a:bodyPr/>
          <a:lstStyle/>
          <a:p>
            <a:endParaRPr lang="en-US"/>
          </a:p>
        </p:txBody>
      </p:sp>
      <p:sp>
        <p:nvSpPr>
          <p:cNvPr id="23" name="Shape 21"/>
          <p:cNvSpPr/>
          <p:nvPr/>
        </p:nvSpPr>
        <p:spPr>
          <a:xfrm>
            <a:off x="6446520" y="3200400"/>
            <a:ext cx="420624" cy="0"/>
          </a:xfrm>
          <a:prstGeom prst="line">
            <a:avLst/>
          </a:prstGeom>
          <a:noFill/>
          <a:ln w="31750">
            <a:solidFill>
              <a:srgbClr val="21295C"/>
            </a:solidFill>
            <a:prstDash val="solid"/>
          </a:ln>
        </p:spPr>
        <p:txBody>
          <a:bodyPr/>
          <a:lstStyle/>
          <a:p>
            <a:endParaRPr lang="en-US"/>
          </a:p>
        </p:txBody>
      </p:sp>
      <p:sp>
        <p:nvSpPr>
          <p:cNvPr id="24" name="Shape 22"/>
          <p:cNvSpPr/>
          <p:nvPr/>
        </p:nvSpPr>
        <p:spPr>
          <a:xfrm>
            <a:off x="5532120" y="2880360"/>
            <a:ext cx="896112" cy="0"/>
          </a:xfrm>
          <a:prstGeom prst="line">
            <a:avLst/>
          </a:prstGeom>
          <a:noFill/>
          <a:ln w="44450">
            <a:solidFill>
              <a:srgbClr val="1C7293"/>
            </a:solidFill>
            <a:prstDash val="solid"/>
          </a:ln>
        </p:spPr>
        <p:txBody>
          <a:bodyPr/>
          <a:lstStyle/>
          <a:p>
            <a:endParaRPr lang="en-US"/>
          </a:p>
        </p:txBody>
      </p:sp>
      <p:sp>
        <p:nvSpPr>
          <p:cNvPr id="25" name="Shape 23"/>
          <p:cNvSpPr/>
          <p:nvPr/>
        </p:nvSpPr>
        <p:spPr>
          <a:xfrm>
            <a:off x="6903720" y="2880360"/>
            <a:ext cx="868680" cy="0"/>
          </a:xfrm>
          <a:prstGeom prst="line">
            <a:avLst/>
          </a:prstGeom>
          <a:noFill/>
          <a:ln w="44450">
            <a:solidFill>
              <a:srgbClr val="1C7293"/>
            </a:solidFill>
            <a:prstDash val="solid"/>
          </a:ln>
        </p:spPr>
        <p:txBody>
          <a:bodyPr/>
          <a:lstStyle/>
          <a:p>
            <a:endParaRPr lang="en-US"/>
          </a:p>
        </p:txBody>
      </p:sp>
      <p:sp>
        <p:nvSpPr>
          <p:cNvPr id="26" name="Text 24"/>
          <p:cNvSpPr txBox="1"/>
          <p:nvPr/>
        </p:nvSpPr>
        <p:spPr>
          <a:xfrm>
            <a:off x="5971032" y="2139696"/>
            <a:ext cx="1371600" cy="256032"/>
          </a:xfrm>
          <a:prstGeom prst="rect">
            <a:avLst/>
          </a:prstGeom>
          <a:noFill/>
          <a:ln/>
        </p:spPr>
        <p:txBody>
          <a:bodyPr wrap="square" lIns="0" tIns="0" rIns="0" bIns="0" rtlCol="0" anchor="ctr"/>
          <a:lstStyle/>
          <a:p>
            <a:pPr marL="0" indent="0" algn="ctr">
              <a:buNone/>
            </a:pPr>
            <a:r>
              <a:rPr lang="en-US" sz="1100" dirty="0">
                <a:solidFill>
                  <a:srgbClr val="21295C"/>
                </a:solidFill>
                <a:latin typeface="Calibri" pitchFamily="34" charset="0"/>
                <a:ea typeface="Calibri" pitchFamily="34" charset="-122"/>
                <a:cs typeface="Calibri" pitchFamily="34" charset="-120"/>
              </a:rPr>
              <a:t>forest junction</a:t>
            </a:r>
            <a:endParaRPr lang="en-US" sz="1100" dirty="0"/>
          </a:p>
        </p:txBody>
      </p:sp>
      <p:sp>
        <p:nvSpPr>
          <p:cNvPr id="27" name="Shape 25"/>
          <p:cNvSpPr/>
          <p:nvPr/>
        </p:nvSpPr>
        <p:spPr>
          <a:xfrm>
            <a:off x="7955280" y="2679192"/>
            <a:ext cx="109728" cy="109728"/>
          </a:xfrm>
          <a:prstGeom prst="ellipse">
            <a:avLst/>
          </a:prstGeom>
          <a:solidFill>
            <a:srgbClr val="C98A16"/>
          </a:solidFill>
          <a:ln w="12700">
            <a:solidFill>
              <a:srgbClr val="C98A16"/>
            </a:solidFill>
            <a:prstDash val="solid"/>
          </a:ln>
        </p:spPr>
        <p:txBody>
          <a:bodyPr/>
          <a:lstStyle/>
          <a:p>
            <a:endParaRPr lang="en-US"/>
          </a:p>
        </p:txBody>
      </p:sp>
      <p:sp>
        <p:nvSpPr>
          <p:cNvPr id="28" name="Shape 26"/>
          <p:cNvSpPr/>
          <p:nvPr/>
        </p:nvSpPr>
        <p:spPr>
          <a:xfrm>
            <a:off x="8156448" y="2679192"/>
            <a:ext cx="109728" cy="109728"/>
          </a:xfrm>
          <a:prstGeom prst="ellipse">
            <a:avLst/>
          </a:prstGeom>
          <a:solidFill>
            <a:srgbClr val="C98A16"/>
          </a:solidFill>
          <a:ln w="12700">
            <a:solidFill>
              <a:srgbClr val="C98A16"/>
            </a:solidFill>
            <a:prstDash val="solid"/>
          </a:ln>
        </p:spPr>
        <p:txBody>
          <a:bodyPr/>
          <a:lstStyle/>
          <a:p>
            <a:endParaRPr lang="en-US"/>
          </a:p>
        </p:txBody>
      </p:sp>
      <p:sp>
        <p:nvSpPr>
          <p:cNvPr id="29" name="Shape 27"/>
          <p:cNvSpPr/>
          <p:nvPr/>
        </p:nvSpPr>
        <p:spPr>
          <a:xfrm>
            <a:off x="8357616" y="2679192"/>
            <a:ext cx="109728" cy="109728"/>
          </a:xfrm>
          <a:prstGeom prst="ellipse">
            <a:avLst/>
          </a:prstGeom>
          <a:solidFill>
            <a:srgbClr val="C98A16"/>
          </a:solidFill>
          <a:ln w="12700">
            <a:solidFill>
              <a:srgbClr val="C98A16"/>
            </a:solidFill>
            <a:prstDash val="solid"/>
          </a:ln>
        </p:spPr>
        <p:txBody>
          <a:bodyPr/>
          <a:lstStyle/>
          <a:p>
            <a:endParaRPr lang="en-US"/>
          </a:p>
        </p:txBody>
      </p:sp>
      <p:sp>
        <p:nvSpPr>
          <p:cNvPr id="30" name="Shape 28"/>
          <p:cNvSpPr/>
          <p:nvPr/>
        </p:nvSpPr>
        <p:spPr>
          <a:xfrm>
            <a:off x="8558784" y="2679192"/>
            <a:ext cx="109728" cy="109728"/>
          </a:xfrm>
          <a:prstGeom prst="ellipse">
            <a:avLst/>
          </a:prstGeom>
          <a:solidFill>
            <a:srgbClr val="C98A16"/>
          </a:solidFill>
          <a:ln w="12700">
            <a:solidFill>
              <a:srgbClr val="C98A16"/>
            </a:solidFill>
            <a:prstDash val="solid"/>
          </a:ln>
        </p:spPr>
        <p:txBody>
          <a:bodyPr/>
          <a:lstStyle/>
          <a:p>
            <a:endParaRPr lang="en-US"/>
          </a:p>
        </p:txBody>
      </p:sp>
      <p:sp>
        <p:nvSpPr>
          <p:cNvPr id="31" name="Shape 29"/>
          <p:cNvSpPr/>
          <p:nvPr/>
        </p:nvSpPr>
        <p:spPr>
          <a:xfrm>
            <a:off x="8759952" y="2679192"/>
            <a:ext cx="109728" cy="109728"/>
          </a:xfrm>
          <a:prstGeom prst="ellipse">
            <a:avLst/>
          </a:prstGeom>
          <a:solidFill>
            <a:srgbClr val="C98A16"/>
          </a:solidFill>
          <a:ln w="12700">
            <a:solidFill>
              <a:srgbClr val="C98A16"/>
            </a:solidFill>
            <a:prstDash val="solid"/>
          </a:ln>
        </p:spPr>
        <p:txBody>
          <a:bodyPr/>
          <a:lstStyle/>
          <a:p>
            <a:endParaRPr lang="en-US"/>
          </a:p>
        </p:txBody>
      </p:sp>
      <p:sp>
        <p:nvSpPr>
          <p:cNvPr id="32" name="Shape 30"/>
          <p:cNvSpPr/>
          <p:nvPr/>
        </p:nvSpPr>
        <p:spPr>
          <a:xfrm>
            <a:off x="7772400" y="2880360"/>
            <a:ext cx="1188720" cy="0"/>
          </a:xfrm>
          <a:prstGeom prst="line">
            <a:avLst/>
          </a:prstGeom>
          <a:noFill/>
          <a:ln w="44450">
            <a:solidFill>
              <a:srgbClr val="1C7293"/>
            </a:solidFill>
            <a:prstDash val="solid"/>
          </a:ln>
        </p:spPr>
        <p:txBody>
          <a:bodyPr/>
          <a:lstStyle/>
          <a:p>
            <a:endParaRPr lang="en-US"/>
          </a:p>
        </p:txBody>
      </p:sp>
      <p:sp>
        <p:nvSpPr>
          <p:cNvPr id="33" name="Text 31"/>
          <p:cNvSpPr txBox="1"/>
          <p:nvPr/>
        </p:nvSpPr>
        <p:spPr>
          <a:xfrm>
            <a:off x="7452360" y="2157984"/>
            <a:ext cx="2011680" cy="256032"/>
          </a:xfrm>
          <a:prstGeom prst="rect">
            <a:avLst/>
          </a:prstGeom>
          <a:noFill/>
          <a:ln/>
        </p:spPr>
        <p:txBody>
          <a:bodyPr wrap="square" lIns="0" tIns="0" rIns="0" bIns="0" rtlCol="0" anchor="ctr"/>
          <a:lstStyle/>
          <a:p>
            <a:pPr marL="0" indent="0" algn="ctr">
              <a:buNone/>
            </a:pPr>
            <a:r>
              <a:rPr lang="en-US" sz="1100" dirty="0">
                <a:solidFill>
                  <a:srgbClr val="C98A16"/>
                </a:solidFill>
                <a:latin typeface="Calibri" pitchFamily="34" charset="0"/>
                <a:ea typeface="Calibri" pitchFamily="34" charset="-122"/>
                <a:cs typeface="Calibri" pitchFamily="34" charset="-120"/>
              </a:rPr>
              <a:t>solutes collect while it waits</a:t>
            </a:r>
            <a:endParaRPr lang="en-US" sz="1100" dirty="0"/>
          </a:p>
        </p:txBody>
      </p:sp>
      <p:sp>
        <p:nvSpPr>
          <p:cNvPr id="34" name="Shape 32"/>
          <p:cNvSpPr/>
          <p:nvPr/>
        </p:nvSpPr>
        <p:spPr>
          <a:xfrm>
            <a:off x="9710928" y="2633472"/>
            <a:ext cx="502920" cy="502920"/>
          </a:xfrm>
          <a:prstGeom prst="ellipse">
            <a:avLst/>
          </a:prstGeom>
          <a:solidFill>
            <a:srgbClr val="B85042"/>
          </a:solidFill>
          <a:ln w="12700">
            <a:solidFill>
              <a:srgbClr val="B85042"/>
            </a:solidFill>
            <a:prstDash val="solid"/>
          </a:ln>
        </p:spPr>
        <p:txBody>
          <a:bodyPr/>
          <a:lstStyle/>
          <a:p>
            <a:endParaRPr lang="en-US"/>
          </a:p>
        </p:txBody>
      </p:sp>
      <p:sp>
        <p:nvSpPr>
          <p:cNvPr id="35" name="Shape 33"/>
          <p:cNvSpPr/>
          <p:nvPr/>
        </p:nvSpPr>
        <p:spPr>
          <a:xfrm>
            <a:off x="8961120" y="2880360"/>
            <a:ext cx="603504" cy="0"/>
          </a:xfrm>
          <a:prstGeom prst="line">
            <a:avLst/>
          </a:prstGeom>
          <a:noFill/>
          <a:ln w="44450">
            <a:solidFill>
              <a:srgbClr val="1C7293"/>
            </a:solidFill>
            <a:prstDash val="solid"/>
          </a:ln>
        </p:spPr>
        <p:txBody>
          <a:bodyPr/>
          <a:lstStyle/>
          <a:p>
            <a:endParaRPr lang="en-US"/>
          </a:p>
        </p:txBody>
      </p:sp>
      <p:sp>
        <p:nvSpPr>
          <p:cNvPr id="36" name="Shape 34"/>
          <p:cNvSpPr/>
          <p:nvPr/>
        </p:nvSpPr>
        <p:spPr>
          <a:xfrm>
            <a:off x="9564624" y="2880360"/>
            <a:ext cx="256032" cy="0"/>
          </a:xfrm>
          <a:prstGeom prst="line">
            <a:avLst/>
          </a:prstGeom>
          <a:noFill/>
          <a:ln w="31750">
            <a:solidFill>
              <a:srgbClr val="065A82"/>
            </a:solidFill>
            <a:prstDash val="dash"/>
          </a:ln>
        </p:spPr>
        <p:txBody>
          <a:bodyPr/>
          <a:lstStyle/>
          <a:p>
            <a:endParaRPr lang="en-US"/>
          </a:p>
        </p:txBody>
      </p:sp>
      <p:sp>
        <p:nvSpPr>
          <p:cNvPr id="37" name="Shape 35"/>
          <p:cNvSpPr/>
          <p:nvPr/>
        </p:nvSpPr>
        <p:spPr>
          <a:xfrm>
            <a:off x="9820656" y="2350008"/>
            <a:ext cx="402336" cy="0"/>
          </a:xfrm>
          <a:prstGeom prst="line">
            <a:avLst/>
          </a:prstGeom>
          <a:noFill/>
          <a:ln w="31750">
            <a:solidFill>
              <a:srgbClr val="065A82"/>
            </a:solidFill>
            <a:prstDash val="dash"/>
          </a:ln>
        </p:spPr>
        <p:txBody>
          <a:bodyPr/>
          <a:lstStyle/>
          <a:p>
            <a:endParaRPr lang="en-US"/>
          </a:p>
        </p:txBody>
      </p:sp>
      <p:sp>
        <p:nvSpPr>
          <p:cNvPr id="38" name="Shape 36"/>
          <p:cNvSpPr/>
          <p:nvPr/>
        </p:nvSpPr>
        <p:spPr>
          <a:xfrm>
            <a:off x="10222992" y="2350008"/>
            <a:ext cx="256032" cy="530352"/>
          </a:xfrm>
          <a:prstGeom prst="line">
            <a:avLst/>
          </a:prstGeom>
          <a:noFill/>
          <a:ln w="31750">
            <a:solidFill>
              <a:srgbClr val="065A82"/>
            </a:solidFill>
            <a:prstDash val="dash"/>
          </a:ln>
        </p:spPr>
        <p:txBody>
          <a:bodyPr/>
          <a:lstStyle/>
          <a:p>
            <a:endParaRPr lang="en-US"/>
          </a:p>
        </p:txBody>
      </p:sp>
      <p:sp>
        <p:nvSpPr>
          <p:cNvPr id="39" name="Shape 37"/>
          <p:cNvSpPr/>
          <p:nvPr/>
        </p:nvSpPr>
        <p:spPr>
          <a:xfrm>
            <a:off x="10479024" y="2880360"/>
            <a:ext cx="1024128" cy="0"/>
          </a:xfrm>
          <a:prstGeom prst="line">
            <a:avLst/>
          </a:prstGeom>
          <a:noFill/>
          <a:ln w="44450">
            <a:solidFill>
              <a:srgbClr val="1C7293"/>
            </a:solidFill>
            <a:prstDash val="solid"/>
            <a:tailEnd type="triangle"/>
          </a:ln>
        </p:spPr>
        <p:txBody>
          <a:bodyPr/>
          <a:lstStyle/>
          <a:p>
            <a:endParaRPr lang="en-US"/>
          </a:p>
        </p:txBody>
      </p:sp>
      <p:sp>
        <p:nvSpPr>
          <p:cNvPr id="40" name="Text 38"/>
          <p:cNvSpPr txBox="1"/>
          <p:nvPr/>
        </p:nvSpPr>
        <p:spPr>
          <a:xfrm>
            <a:off x="9281160" y="3127248"/>
            <a:ext cx="2377440" cy="502920"/>
          </a:xfrm>
          <a:prstGeom prst="rect">
            <a:avLst/>
          </a:prstGeom>
          <a:noFill/>
          <a:ln/>
        </p:spPr>
        <p:txBody>
          <a:bodyPr wrap="square" lIns="0" tIns="0" rIns="0" bIns="0" rtlCol="0" anchor="ctr"/>
          <a:lstStyle/>
          <a:p>
            <a:pPr marL="0" indent="0" algn="ctr">
              <a:buNone/>
            </a:pPr>
            <a:r>
              <a:rPr lang="en-US" sz="1100" dirty="0">
                <a:solidFill>
                  <a:srgbClr val="21295C"/>
                </a:solidFill>
                <a:latin typeface="Calibri" pitchFamily="34" charset="0"/>
                <a:ea typeface="Calibri" pitchFamily="34" charset="-122"/>
                <a:cs typeface="Calibri" pitchFamily="34" charset="-120"/>
              </a:rPr>
              <a:t>climbs over it, or breaks away,</a:t>
            </a:r>
            <a:endParaRPr lang="en-US" sz="1100" dirty="0"/>
          </a:p>
          <a:p>
            <a:pPr marL="0" indent="0" algn="ctr">
              <a:buNone/>
            </a:pPr>
            <a:r>
              <a:rPr lang="en-US" sz="1100" dirty="0">
                <a:solidFill>
                  <a:srgbClr val="21295C"/>
                </a:solidFill>
                <a:latin typeface="Calibri" pitchFamily="34" charset="0"/>
                <a:ea typeface="Calibri" pitchFamily="34" charset="-122"/>
                <a:cs typeface="Calibri" pitchFamily="34" charset="-120"/>
              </a:rPr>
              <a:t>and travels again</a:t>
            </a:r>
            <a:endParaRPr lang="en-US" sz="1100" dirty="0"/>
          </a:p>
        </p:txBody>
      </p:sp>
      <p:sp>
        <p:nvSpPr>
          <p:cNvPr id="41" name="Shape 39"/>
          <p:cNvSpPr/>
          <p:nvPr/>
        </p:nvSpPr>
        <p:spPr>
          <a:xfrm>
            <a:off x="502920" y="4224528"/>
            <a:ext cx="3566160" cy="2148840"/>
          </a:xfrm>
          <a:prstGeom prst="roundRect">
            <a:avLst>
              <a:gd name="adj" fmla="val 3404"/>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42" name="Shape 40"/>
          <p:cNvSpPr/>
          <p:nvPr/>
        </p:nvSpPr>
        <p:spPr>
          <a:xfrm>
            <a:off x="704088" y="4425696"/>
            <a:ext cx="310896" cy="310896"/>
          </a:xfrm>
          <a:prstGeom prst="ellipse">
            <a:avLst/>
          </a:prstGeom>
          <a:solidFill>
            <a:srgbClr val="1C7293"/>
          </a:solidFill>
          <a:ln w="12700">
            <a:solidFill>
              <a:srgbClr val="1C7293"/>
            </a:solidFill>
            <a:prstDash val="solid"/>
          </a:ln>
        </p:spPr>
        <p:txBody>
          <a:bodyPr/>
          <a:lstStyle/>
          <a:p>
            <a:endParaRPr lang="en-US"/>
          </a:p>
        </p:txBody>
      </p:sp>
      <p:sp>
        <p:nvSpPr>
          <p:cNvPr id="43" name="Text 41"/>
          <p:cNvSpPr txBox="1"/>
          <p:nvPr/>
        </p:nvSpPr>
        <p:spPr>
          <a:xfrm>
            <a:off x="1106424" y="4370832"/>
            <a:ext cx="2788920"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Travelling</a:t>
            </a:r>
            <a:endParaRPr lang="en-US" sz="1500" dirty="0"/>
          </a:p>
        </p:txBody>
      </p:sp>
      <p:sp>
        <p:nvSpPr>
          <p:cNvPr id="44" name="Text 42"/>
          <p:cNvSpPr txBox="1"/>
          <p:nvPr/>
        </p:nvSpPr>
        <p:spPr>
          <a:xfrm>
            <a:off x="722376" y="4846320"/>
            <a:ext cx="3127248" cy="137160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Between obstacles the segment glides by nucleating kink pairs on screw dislocations and sweeping them sideways. This is slow and hard when it is cold, and almost free once the barrier is thermally overcome.</a:t>
            </a:r>
            <a:endParaRPr lang="en-US" sz="1200" dirty="0"/>
          </a:p>
        </p:txBody>
      </p:sp>
      <p:sp>
        <p:nvSpPr>
          <p:cNvPr id="45" name="Shape 43"/>
          <p:cNvSpPr/>
          <p:nvPr/>
        </p:nvSpPr>
        <p:spPr>
          <a:xfrm>
            <a:off x="4315968" y="4224528"/>
            <a:ext cx="3566160" cy="2148840"/>
          </a:xfrm>
          <a:prstGeom prst="roundRect">
            <a:avLst>
              <a:gd name="adj" fmla="val 3404"/>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46" name="Shape 44"/>
          <p:cNvSpPr/>
          <p:nvPr/>
        </p:nvSpPr>
        <p:spPr>
          <a:xfrm>
            <a:off x="4517136" y="4425696"/>
            <a:ext cx="310896" cy="310896"/>
          </a:xfrm>
          <a:prstGeom prst="ellipse">
            <a:avLst/>
          </a:prstGeom>
          <a:solidFill>
            <a:srgbClr val="B85042"/>
          </a:solidFill>
          <a:ln w="12700">
            <a:solidFill>
              <a:srgbClr val="B85042"/>
            </a:solidFill>
            <a:prstDash val="solid"/>
          </a:ln>
        </p:spPr>
        <p:txBody>
          <a:bodyPr/>
          <a:lstStyle/>
          <a:p>
            <a:endParaRPr lang="en-US"/>
          </a:p>
        </p:txBody>
      </p:sp>
      <p:sp>
        <p:nvSpPr>
          <p:cNvPr id="47" name="Text 45"/>
          <p:cNvSpPr txBox="1"/>
          <p:nvPr/>
        </p:nvSpPr>
        <p:spPr>
          <a:xfrm>
            <a:off x="4919472" y="4370832"/>
            <a:ext cx="2788920"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Waiting</a:t>
            </a:r>
            <a:endParaRPr lang="en-US" sz="1500" dirty="0"/>
          </a:p>
        </p:txBody>
      </p:sp>
      <p:sp>
        <p:nvSpPr>
          <p:cNvPr id="48" name="Text 46"/>
          <p:cNvSpPr txBox="1"/>
          <p:nvPr/>
        </p:nvSpPr>
        <p:spPr>
          <a:xfrm>
            <a:off x="4535424" y="4846320"/>
            <a:ext cx="3127248" cy="137160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At forest junctions, particles and boundaries the line stops and bows out. The longer it waits, the more solute atoms reach it and the stronger the pinning becomes.</a:t>
            </a:r>
            <a:endParaRPr lang="en-US" sz="1200" dirty="0"/>
          </a:p>
        </p:txBody>
      </p:sp>
      <p:sp>
        <p:nvSpPr>
          <p:cNvPr id="49" name="Shape 47"/>
          <p:cNvSpPr/>
          <p:nvPr/>
        </p:nvSpPr>
        <p:spPr>
          <a:xfrm>
            <a:off x="8119872" y="4224528"/>
            <a:ext cx="3538728" cy="2148840"/>
          </a:xfrm>
          <a:prstGeom prst="roundRect">
            <a:avLst>
              <a:gd name="adj" fmla="val 3404"/>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50" name="Shape 48"/>
          <p:cNvSpPr/>
          <p:nvPr/>
        </p:nvSpPr>
        <p:spPr>
          <a:xfrm>
            <a:off x="8321040" y="4425696"/>
            <a:ext cx="310896" cy="310896"/>
          </a:xfrm>
          <a:prstGeom prst="ellipse">
            <a:avLst/>
          </a:prstGeom>
          <a:solidFill>
            <a:srgbClr val="065A82"/>
          </a:solidFill>
          <a:ln w="12700">
            <a:solidFill>
              <a:srgbClr val="065A82"/>
            </a:solidFill>
            <a:prstDash val="solid"/>
          </a:ln>
        </p:spPr>
        <p:txBody>
          <a:bodyPr/>
          <a:lstStyle/>
          <a:p>
            <a:endParaRPr lang="en-US"/>
          </a:p>
        </p:txBody>
      </p:sp>
      <p:sp>
        <p:nvSpPr>
          <p:cNvPr id="51" name="Text 49"/>
          <p:cNvSpPr txBox="1"/>
          <p:nvPr/>
        </p:nvSpPr>
        <p:spPr>
          <a:xfrm>
            <a:off x="8723376" y="4370832"/>
            <a:ext cx="2761488"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Getting free</a:t>
            </a:r>
            <a:endParaRPr lang="en-US" sz="1500" dirty="0"/>
          </a:p>
        </p:txBody>
      </p:sp>
      <p:sp>
        <p:nvSpPr>
          <p:cNvPr id="52" name="Text 50"/>
          <p:cNvSpPr txBox="1"/>
          <p:nvPr/>
        </p:nvSpPr>
        <p:spPr>
          <a:xfrm>
            <a:off x="8339328" y="4846320"/>
            <a:ext cx="3099816" cy="137160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Two escapes compete at every obstacle: thermal activation past it, or climb over it. Whichever happens first releases the segment, and the travelling starts again.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8229600" cy="548640"/>
          </a:xfrm>
          <a:prstGeom prst="rect">
            <a:avLst/>
          </a:prstGeom>
          <a:noFill/>
          <a:ln/>
        </p:spPr>
        <p:txBody>
          <a:bodyPr wrap="square" lIns="0" tIns="0" rIns="0" bIns="0" rtlCol="0" anchor="ctr"/>
          <a:lstStyle/>
          <a:p>
            <a:pPr marL="0" indent="0">
              <a:buNone/>
            </a:pPr>
            <a:r>
              <a:rPr lang="en-US" sz="3800" b="1" dirty="0">
                <a:solidFill>
                  <a:srgbClr val="21295C"/>
                </a:solidFill>
                <a:latin typeface="Cambria" pitchFamily="34" charset="0"/>
                <a:ea typeface="Cambria" pitchFamily="34" charset="-122"/>
                <a:cs typeface="Cambria" pitchFamily="34" charset="-120"/>
              </a:rPr>
              <a:t>The mechanisms in play</a:t>
            </a:r>
            <a:endParaRPr lang="en-US" sz="3800" dirty="0"/>
          </a:p>
        </p:txBody>
      </p:sp>
      <p:sp>
        <p:nvSpPr>
          <p:cNvPr id="3" name="Text 1"/>
          <p:cNvSpPr txBox="1"/>
          <p:nvPr/>
        </p:nvSpPr>
        <p:spPr>
          <a:xfrm>
            <a:off x="521208" y="896112"/>
            <a:ext cx="10515600" cy="365760"/>
          </a:xfrm>
          <a:prstGeom prst="rect">
            <a:avLst/>
          </a:prstGeom>
          <a:noFill/>
          <a:ln/>
        </p:spPr>
        <p:txBody>
          <a:bodyPr wrap="square" lIns="0" tIns="0" rIns="0" bIns="0" rtlCol="0" anchor="ctr"/>
          <a:lstStyle/>
          <a:p>
            <a:pPr marL="0" indent="0">
              <a:buNone/>
            </a:pPr>
            <a:r>
              <a:rPr lang="en-US" sz="1400" dirty="0">
                <a:solidFill>
                  <a:srgbClr val="5A6472"/>
                </a:solidFill>
                <a:latin typeface="Calibri" pitchFamily="34" charset="0"/>
                <a:ea typeface="Calibri" pitchFamily="34" charset="-122"/>
                <a:cs typeface="Calibri" pitchFamily="34" charset="-120"/>
              </a:rPr>
              <a:t>What sets the glide speed, what holds the line up, and what changes the microstructure while it deforms</a:t>
            </a:r>
            <a:endParaRPr lang="en-US" sz="1400" dirty="0"/>
          </a:p>
        </p:txBody>
      </p:sp>
      <p:sp>
        <p:nvSpPr>
          <p:cNvPr id="4" name="Shape 2"/>
          <p:cNvSpPr/>
          <p:nvPr/>
        </p:nvSpPr>
        <p:spPr>
          <a:xfrm>
            <a:off x="502920" y="1481328"/>
            <a:ext cx="2761488" cy="2240280"/>
          </a:xfrm>
          <a:prstGeom prst="roundRect">
            <a:avLst>
              <a:gd name="adj" fmla="val 3265"/>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5" name="Shape 3"/>
          <p:cNvSpPr/>
          <p:nvPr/>
        </p:nvSpPr>
        <p:spPr>
          <a:xfrm>
            <a:off x="704088" y="1682496"/>
            <a:ext cx="310896" cy="310896"/>
          </a:xfrm>
          <a:prstGeom prst="ellipse">
            <a:avLst/>
          </a:prstGeom>
          <a:solidFill>
            <a:srgbClr val="1C7293"/>
          </a:solidFill>
          <a:ln w="12700">
            <a:solidFill>
              <a:srgbClr val="1C7293"/>
            </a:solidFill>
            <a:prstDash val="solid"/>
          </a:ln>
        </p:spPr>
        <p:txBody>
          <a:bodyPr/>
          <a:lstStyle/>
          <a:p>
            <a:endParaRPr lang="en-US"/>
          </a:p>
        </p:txBody>
      </p:sp>
      <p:sp>
        <p:nvSpPr>
          <p:cNvPr id="6" name="Text 4"/>
          <p:cNvSpPr txBox="1"/>
          <p:nvPr/>
        </p:nvSpPr>
        <p:spPr>
          <a:xfrm>
            <a:off x="1106424" y="1627632"/>
            <a:ext cx="1984248"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Kink-pair glide</a:t>
            </a:r>
            <a:endParaRPr lang="en-US" sz="1500" dirty="0"/>
          </a:p>
        </p:txBody>
      </p:sp>
      <p:sp>
        <p:nvSpPr>
          <p:cNvPr id="7" name="Text 5"/>
          <p:cNvSpPr txBox="1"/>
          <p:nvPr/>
        </p:nvSpPr>
        <p:spPr>
          <a:xfrm>
            <a:off x="722376" y="2103120"/>
            <a:ext cx="2322576" cy="146304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How fast the segment travels through the lattice between obstacles. Sets the low-temperature strength and its strong rate and temperature dependence.</a:t>
            </a:r>
            <a:endParaRPr lang="en-US" sz="1200" dirty="0"/>
          </a:p>
        </p:txBody>
      </p:sp>
      <p:sp>
        <p:nvSpPr>
          <p:cNvPr id="8" name="Shape 6"/>
          <p:cNvSpPr/>
          <p:nvPr/>
        </p:nvSpPr>
        <p:spPr>
          <a:xfrm>
            <a:off x="3401568" y="1481328"/>
            <a:ext cx="2761488" cy="2240280"/>
          </a:xfrm>
          <a:prstGeom prst="roundRect">
            <a:avLst>
              <a:gd name="adj" fmla="val 3265"/>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9" name="Shape 7"/>
          <p:cNvSpPr/>
          <p:nvPr/>
        </p:nvSpPr>
        <p:spPr>
          <a:xfrm>
            <a:off x="3602736" y="1682496"/>
            <a:ext cx="310896" cy="310896"/>
          </a:xfrm>
          <a:prstGeom prst="ellipse">
            <a:avLst/>
          </a:prstGeom>
          <a:solidFill>
            <a:srgbClr val="21295C"/>
          </a:solidFill>
          <a:ln w="12700">
            <a:solidFill>
              <a:srgbClr val="21295C"/>
            </a:solidFill>
            <a:prstDash val="solid"/>
          </a:ln>
        </p:spPr>
        <p:txBody>
          <a:bodyPr/>
          <a:lstStyle/>
          <a:p>
            <a:endParaRPr lang="en-US"/>
          </a:p>
        </p:txBody>
      </p:sp>
      <p:sp>
        <p:nvSpPr>
          <p:cNvPr id="10" name="Text 8"/>
          <p:cNvSpPr txBox="1"/>
          <p:nvPr/>
        </p:nvSpPr>
        <p:spPr>
          <a:xfrm>
            <a:off x="4005072" y="1627632"/>
            <a:ext cx="1984248"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Forest junctions</a:t>
            </a:r>
            <a:endParaRPr lang="en-US" sz="1500" dirty="0"/>
          </a:p>
        </p:txBody>
      </p:sp>
      <p:sp>
        <p:nvSpPr>
          <p:cNvPr id="11" name="Text 9"/>
          <p:cNvSpPr txBox="1"/>
          <p:nvPr/>
        </p:nvSpPr>
        <p:spPr>
          <a:xfrm>
            <a:off x="3621024" y="2103120"/>
            <a:ext cx="2322576" cy="146304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Other dislocations threading the slip plane. They act as a long-range back stress that the moving line has to push against everywhere.</a:t>
            </a:r>
            <a:endParaRPr lang="en-US" sz="1200" dirty="0"/>
          </a:p>
        </p:txBody>
      </p:sp>
      <p:sp>
        <p:nvSpPr>
          <p:cNvPr id="12" name="Shape 10"/>
          <p:cNvSpPr/>
          <p:nvPr/>
        </p:nvSpPr>
        <p:spPr>
          <a:xfrm>
            <a:off x="6300216" y="1481328"/>
            <a:ext cx="2761488" cy="2240280"/>
          </a:xfrm>
          <a:prstGeom prst="roundRect">
            <a:avLst>
              <a:gd name="adj" fmla="val 3265"/>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13" name="Shape 11"/>
          <p:cNvSpPr/>
          <p:nvPr/>
        </p:nvSpPr>
        <p:spPr>
          <a:xfrm>
            <a:off x="6501384" y="1682496"/>
            <a:ext cx="310896" cy="310896"/>
          </a:xfrm>
          <a:prstGeom prst="ellipse">
            <a:avLst/>
          </a:prstGeom>
          <a:solidFill>
            <a:srgbClr val="065A82"/>
          </a:solidFill>
          <a:ln w="12700">
            <a:solidFill>
              <a:srgbClr val="065A82"/>
            </a:solidFill>
            <a:prstDash val="solid"/>
          </a:ln>
        </p:spPr>
        <p:txBody>
          <a:bodyPr/>
          <a:lstStyle/>
          <a:p>
            <a:endParaRPr lang="en-US"/>
          </a:p>
        </p:txBody>
      </p:sp>
      <p:sp>
        <p:nvSpPr>
          <p:cNvPr id="14" name="Text 12"/>
          <p:cNvSpPr txBox="1"/>
          <p:nvPr/>
        </p:nvSpPr>
        <p:spPr>
          <a:xfrm>
            <a:off x="6903720" y="1627632"/>
            <a:ext cx="1984248"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Boundaries</a:t>
            </a:r>
            <a:endParaRPr lang="en-US" sz="1500" dirty="0"/>
          </a:p>
        </p:txBody>
      </p:sp>
      <p:sp>
        <p:nvSpPr>
          <p:cNvPr id="15" name="Text 13"/>
          <p:cNvSpPr txBox="1"/>
          <p:nvPr/>
        </p:nvSpPr>
        <p:spPr>
          <a:xfrm>
            <a:off x="6519672" y="2103120"/>
            <a:ext cx="2322576" cy="146304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Lath, block and prior-austenite boundaries in the steel. They store dislocations and shorten the distance a segment can travel.</a:t>
            </a:r>
            <a:endParaRPr lang="en-US" sz="1200" dirty="0"/>
          </a:p>
        </p:txBody>
      </p:sp>
      <p:sp>
        <p:nvSpPr>
          <p:cNvPr id="16" name="Shape 14"/>
          <p:cNvSpPr/>
          <p:nvPr/>
        </p:nvSpPr>
        <p:spPr>
          <a:xfrm>
            <a:off x="9198864" y="1481328"/>
            <a:ext cx="2761488" cy="2240280"/>
          </a:xfrm>
          <a:prstGeom prst="roundRect">
            <a:avLst>
              <a:gd name="adj" fmla="val 3265"/>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17" name="Shape 15"/>
          <p:cNvSpPr/>
          <p:nvPr/>
        </p:nvSpPr>
        <p:spPr>
          <a:xfrm>
            <a:off x="9400032" y="1682496"/>
            <a:ext cx="310896" cy="310896"/>
          </a:xfrm>
          <a:prstGeom prst="ellipse">
            <a:avLst/>
          </a:prstGeom>
          <a:solidFill>
            <a:srgbClr val="C98A16"/>
          </a:solidFill>
          <a:ln w="12700">
            <a:solidFill>
              <a:srgbClr val="C98A16"/>
            </a:solidFill>
            <a:prstDash val="solid"/>
          </a:ln>
        </p:spPr>
        <p:txBody>
          <a:bodyPr/>
          <a:lstStyle/>
          <a:p>
            <a:endParaRPr lang="en-US"/>
          </a:p>
        </p:txBody>
      </p:sp>
      <p:sp>
        <p:nvSpPr>
          <p:cNvPr id="18" name="Text 16"/>
          <p:cNvSpPr txBox="1"/>
          <p:nvPr/>
        </p:nvSpPr>
        <p:spPr>
          <a:xfrm>
            <a:off x="9802368" y="1627632"/>
            <a:ext cx="1984248"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Solute atmospheres</a:t>
            </a:r>
            <a:endParaRPr lang="en-US" sz="1500" dirty="0"/>
          </a:p>
        </p:txBody>
      </p:sp>
      <p:sp>
        <p:nvSpPr>
          <p:cNvPr id="19" name="Text 17"/>
          <p:cNvSpPr txBox="1"/>
          <p:nvPr/>
        </p:nvSpPr>
        <p:spPr>
          <a:xfrm>
            <a:off x="9418320" y="2103120"/>
            <a:ext cx="2322576" cy="146304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Carbon, nitrogen or oxygen diffusing to a waiting segment. Slower deformation means more time to age, which is dynamic strain aging.</a:t>
            </a:r>
            <a:endParaRPr lang="en-US" sz="1200" dirty="0"/>
          </a:p>
        </p:txBody>
      </p:sp>
      <p:sp>
        <p:nvSpPr>
          <p:cNvPr id="20" name="Shape 18"/>
          <p:cNvSpPr/>
          <p:nvPr/>
        </p:nvSpPr>
        <p:spPr>
          <a:xfrm>
            <a:off x="502920" y="3913632"/>
            <a:ext cx="2761488" cy="2240280"/>
          </a:xfrm>
          <a:prstGeom prst="roundRect">
            <a:avLst>
              <a:gd name="adj" fmla="val 3265"/>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21" name="Shape 19"/>
          <p:cNvSpPr/>
          <p:nvPr/>
        </p:nvSpPr>
        <p:spPr>
          <a:xfrm>
            <a:off x="704088" y="4114800"/>
            <a:ext cx="310896" cy="310896"/>
          </a:xfrm>
          <a:prstGeom prst="ellipse">
            <a:avLst/>
          </a:prstGeom>
          <a:solidFill>
            <a:srgbClr val="B85042"/>
          </a:solidFill>
          <a:ln w="12700">
            <a:solidFill>
              <a:srgbClr val="B85042"/>
            </a:solidFill>
            <a:prstDash val="solid"/>
          </a:ln>
        </p:spPr>
        <p:txBody>
          <a:bodyPr/>
          <a:lstStyle/>
          <a:p>
            <a:endParaRPr lang="en-US"/>
          </a:p>
        </p:txBody>
      </p:sp>
      <p:sp>
        <p:nvSpPr>
          <p:cNvPr id="22" name="Text 20"/>
          <p:cNvSpPr txBox="1"/>
          <p:nvPr/>
        </p:nvSpPr>
        <p:spPr>
          <a:xfrm>
            <a:off x="1106424" y="4059936"/>
            <a:ext cx="1984248"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Particle detachment</a:t>
            </a:r>
            <a:endParaRPr lang="en-US" sz="1500" dirty="0"/>
          </a:p>
        </p:txBody>
      </p:sp>
      <p:sp>
        <p:nvSpPr>
          <p:cNvPr id="23" name="Text 21"/>
          <p:cNvSpPr txBox="1"/>
          <p:nvPr/>
        </p:nvSpPr>
        <p:spPr>
          <a:xfrm>
            <a:off x="722376" y="4535424"/>
            <a:ext cx="2322576" cy="146304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Thermal activation lets a pinned segment break away from a carbide or carbonitride once it has bowed enough.</a:t>
            </a:r>
            <a:endParaRPr lang="en-US" sz="1200" dirty="0"/>
          </a:p>
        </p:txBody>
      </p:sp>
      <p:sp>
        <p:nvSpPr>
          <p:cNvPr id="24" name="Shape 22"/>
          <p:cNvSpPr/>
          <p:nvPr/>
        </p:nvSpPr>
        <p:spPr>
          <a:xfrm>
            <a:off x="3401568" y="3913632"/>
            <a:ext cx="2761488" cy="2240280"/>
          </a:xfrm>
          <a:prstGeom prst="roundRect">
            <a:avLst>
              <a:gd name="adj" fmla="val 3265"/>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25" name="Shape 23"/>
          <p:cNvSpPr/>
          <p:nvPr/>
        </p:nvSpPr>
        <p:spPr>
          <a:xfrm>
            <a:off x="3602736" y="4114800"/>
            <a:ext cx="310896" cy="310896"/>
          </a:xfrm>
          <a:prstGeom prst="ellipse">
            <a:avLst/>
          </a:prstGeom>
          <a:solidFill>
            <a:srgbClr val="8E4162"/>
          </a:solidFill>
          <a:ln w="12700">
            <a:solidFill>
              <a:srgbClr val="8E4162"/>
            </a:solidFill>
            <a:prstDash val="solid"/>
          </a:ln>
        </p:spPr>
        <p:txBody>
          <a:bodyPr/>
          <a:lstStyle/>
          <a:p>
            <a:endParaRPr lang="en-US"/>
          </a:p>
        </p:txBody>
      </p:sp>
      <p:sp>
        <p:nvSpPr>
          <p:cNvPr id="26" name="Text 24"/>
          <p:cNvSpPr txBox="1"/>
          <p:nvPr/>
        </p:nvSpPr>
        <p:spPr>
          <a:xfrm>
            <a:off x="4005072" y="4059936"/>
            <a:ext cx="1984248"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Local climb</a:t>
            </a:r>
            <a:endParaRPr lang="en-US" sz="1500" dirty="0"/>
          </a:p>
        </p:txBody>
      </p:sp>
      <p:sp>
        <p:nvSpPr>
          <p:cNvPr id="27" name="Text 25"/>
          <p:cNvSpPr txBox="1"/>
          <p:nvPr/>
        </p:nvSpPr>
        <p:spPr>
          <a:xfrm>
            <a:off x="3621024" y="4535424"/>
            <a:ext cx="2322576" cy="146304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The alternative escape: the line climbs over the particle. It needs diffusion, so it takes over when it is hot and the loading is slow.</a:t>
            </a:r>
            <a:endParaRPr lang="en-US" sz="1200" dirty="0"/>
          </a:p>
        </p:txBody>
      </p:sp>
      <p:sp>
        <p:nvSpPr>
          <p:cNvPr id="28" name="Shape 26"/>
          <p:cNvSpPr/>
          <p:nvPr/>
        </p:nvSpPr>
        <p:spPr>
          <a:xfrm>
            <a:off x="6300216" y="3913632"/>
            <a:ext cx="2761488" cy="2240280"/>
          </a:xfrm>
          <a:prstGeom prst="roundRect">
            <a:avLst>
              <a:gd name="adj" fmla="val 3265"/>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29" name="Shape 27"/>
          <p:cNvSpPr/>
          <p:nvPr/>
        </p:nvSpPr>
        <p:spPr>
          <a:xfrm>
            <a:off x="6501384" y="4114800"/>
            <a:ext cx="310896" cy="310896"/>
          </a:xfrm>
          <a:prstGeom prst="ellipse">
            <a:avLst/>
          </a:prstGeom>
          <a:solidFill>
            <a:srgbClr val="2C6E63"/>
          </a:solidFill>
          <a:ln w="12700">
            <a:solidFill>
              <a:srgbClr val="2C6E63"/>
            </a:solidFill>
            <a:prstDash val="solid"/>
          </a:ln>
        </p:spPr>
        <p:txBody>
          <a:bodyPr/>
          <a:lstStyle/>
          <a:p>
            <a:endParaRPr lang="en-US"/>
          </a:p>
        </p:txBody>
      </p:sp>
      <p:sp>
        <p:nvSpPr>
          <p:cNvPr id="30" name="Text 28"/>
          <p:cNvSpPr txBox="1"/>
          <p:nvPr/>
        </p:nvSpPr>
        <p:spPr>
          <a:xfrm>
            <a:off x="6903720" y="4059936"/>
            <a:ext cx="1984248"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Recovery</a:t>
            </a:r>
            <a:endParaRPr lang="en-US" sz="1500" dirty="0"/>
          </a:p>
        </p:txBody>
      </p:sp>
      <p:sp>
        <p:nvSpPr>
          <p:cNvPr id="31" name="Text 29"/>
          <p:cNvSpPr txBox="1"/>
          <p:nvPr/>
        </p:nvSpPr>
        <p:spPr>
          <a:xfrm>
            <a:off x="6519672" y="4535424"/>
            <a:ext cx="2322576" cy="146304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Stored dislocations annihilate: by cross slip as the crystal deforms, and by climb, which keeps going whether or not it deforms.</a:t>
            </a:r>
            <a:endParaRPr lang="en-US" sz="1200" dirty="0"/>
          </a:p>
        </p:txBody>
      </p:sp>
      <p:sp>
        <p:nvSpPr>
          <p:cNvPr id="32" name="Shape 30"/>
          <p:cNvSpPr/>
          <p:nvPr/>
        </p:nvSpPr>
        <p:spPr>
          <a:xfrm>
            <a:off x="9198864" y="3913632"/>
            <a:ext cx="2761488" cy="2240280"/>
          </a:xfrm>
          <a:prstGeom prst="roundRect">
            <a:avLst>
              <a:gd name="adj" fmla="val 3265"/>
            </a:avLst>
          </a:prstGeom>
          <a:solidFill>
            <a:srgbClr val="FFFFFF"/>
          </a:solidFill>
          <a:ln w="12700">
            <a:solidFill>
              <a:srgbClr val="C9D3DC"/>
            </a:solidFill>
            <a:prstDash val="solid"/>
          </a:ln>
          <a:effectLst>
            <a:outerShdw blurRad="76200" dist="12700" dir="5400000" algn="bl" rotWithShape="0">
              <a:srgbClr val="9AA7B4">
                <a:alpha val="25000"/>
              </a:srgbClr>
            </a:outerShdw>
          </a:effectLst>
        </p:spPr>
        <p:txBody>
          <a:bodyPr/>
          <a:lstStyle/>
          <a:p>
            <a:endParaRPr lang="en-US"/>
          </a:p>
        </p:txBody>
      </p:sp>
      <p:sp>
        <p:nvSpPr>
          <p:cNvPr id="33" name="Shape 31"/>
          <p:cNvSpPr/>
          <p:nvPr/>
        </p:nvSpPr>
        <p:spPr>
          <a:xfrm>
            <a:off x="9400032" y="4114800"/>
            <a:ext cx="310896" cy="310896"/>
          </a:xfrm>
          <a:prstGeom prst="ellipse">
            <a:avLst/>
          </a:prstGeom>
          <a:solidFill>
            <a:srgbClr val="5A6472"/>
          </a:solidFill>
          <a:ln w="12700">
            <a:solidFill>
              <a:srgbClr val="5A6472"/>
            </a:solidFill>
            <a:prstDash val="solid"/>
          </a:ln>
        </p:spPr>
        <p:txBody>
          <a:bodyPr/>
          <a:lstStyle/>
          <a:p>
            <a:endParaRPr lang="en-US"/>
          </a:p>
        </p:txBody>
      </p:sp>
      <p:sp>
        <p:nvSpPr>
          <p:cNvPr id="34" name="Text 32"/>
          <p:cNvSpPr txBox="1"/>
          <p:nvPr/>
        </p:nvSpPr>
        <p:spPr>
          <a:xfrm>
            <a:off x="9802368" y="4059936"/>
            <a:ext cx="1984248" cy="41148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Diffusional flow</a:t>
            </a:r>
            <a:endParaRPr lang="en-US" sz="1500" dirty="0"/>
          </a:p>
        </p:txBody>
      </p:sp>
      <p:sp>
        <p:nvSpPr>
          <p:cNvPr id="35" name="Text 33"/>
          <p:cNvSpPr txBox="1"/>
          <p:nvPr/>
        </p:nvSpPr>
        <p:spPr>
          <a:xfrm>
            <a:off x="9418320" y="4535424"/>
            <a:ext cx="2322576" cy="1463040"/>
          </a:xfrm>
          <a:prstGeom prst="rect">
            <a:avLst/>
          </a:prstGeom>
          <a:noFill/>
          <a:ln/>
        </p:spPr>
        <p:txBody>
          <a:bodyPr wrap="square" lIns="0" tIns="0" rIns="0" bIns="0" rtlCol="0" anchor="t"/>
          <a:lstStyle/>
          <a:p>
            <a:pPr marL="0" indent="0">
              <a:lnSpc>
                <a:spcPct val="110000"/>
              </a:lnSpc>
              <a:buNone/>
            </a:pPr>
            <a:r>
              <a:rPr lang="en-US" sz="1200" dirty="0">
                <a:solidFill>
                  <a:srgbClr val="5A6472"/>
                </a:solidFill>
                <a:latin typeface="Calibri" pitchFamily="34" charset="0"/>
                <a:ea typeface="Calibri" pitchFamily="34" charset="-122"/>
                <a:cs typeface="Calibri" pitchFamily="34" charset="-120"/>
              </a:rPr>
              <a:t>Matter moving through the grains and along the boundaries rather than dislocations moving. A separate carrier that only matters at very low stress.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424</Words>
  <Application>Microsoft Macintosh PowerPoint</Application>
  <PresentationFormat>Widescreen</PresentationFormat>
  <Paragraphs>39</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Cambria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Maron, Matthew Liam</cp:lastModifiedBy>
  <cp:revision>2</cp:revision>
  <dcterms:created xsi:type="dcterms:W3CDTF">2026-09-17T18:54:34Z</dcterms:created>
  <dcterms:modified xsi:type="dcterms:W3CDTF">2026-09-17T19:01:44Z</dcterms:modified>
</cp:coreProperties>
</file>