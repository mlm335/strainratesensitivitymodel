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Four-panel schematic: lattice friction and kink pairs, waiting at obstacles, the structure that stores dislocations, and obstacle spacing. Every element is a native, editable shape.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travel-and-wait picture behind the flow rule. All shapes are editable.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card per mechanism. Colours match the schematics on the earlier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182880"/>
            <a:ext cx="8229600" cy="457200"/>
          </a:xfrm>
          <a:prstGeom prst="rect">
            <a:avLst/>
          </a:prstGeom>
          <a:noFill/>
          <a:ln/>
        </p:spPr>
        <p:txBody>
          <a:bodyPr wrap="square" lIns="0" tIns="0" rIns="0" bIns="0" rtlCol="0" anchor="ctr"/>
          <a:lstStyle/>
          <a:p>
            <a:pPr indent="0" marL="0">
              <a:buNone/>
            </a:pPr>
            <a:r>
              <a:rPr lang="en-US" sz="3000" b="1" dirty="0">
                <a:solidFill>
                  <a:srgbClr val="21295C"/>
                </a:solidFill>
                <a:latin typeface="Cambria" pitchFamily="34" charset="0"/>
                <a:ea typeface="Cambria" pitchFamily="34" charset="-122"/>
                <a:cs typeface="Cambria" pitchFamily="34" charset="-120"/>
              </a:rPr>
              <a:t>What a dislocation runs into</a:t>
            </a:r>
            <a:endParaRPr lang="en-US" sz="3000" dirty="0"/>
          </a:p>
        </p:txBody>
      </p:sp>
      <p:sp>
        <p:nvSpPr>
          <p:cNvPr id="3" name="Text 1"/>
          <p:cNvSpPr txBox="1"/>
          <p:nvPr/>
        </p:nvSpPr>
        <p:spPr>
          <a:xfrm>
            <a:off x="475488" y="603504"/>
            <a:ext cx="10515600" cy="274320"/>
          </a:xfrm>
          <a:prstGeom prst="rect">
            <a:avLst/>
          </a:prstGeom>
          <a:noFill/>
          <a:ln/>
        </p:spPr>
        <p:txBody>
          <a:bodyPr wrap="square" lIns="0" tIns="0" rIns="0" bIns="0" rtlCol="0" anchor="ctr"/>
          <a:lstStyle/>
          <a:p>
            <a:pPr indent="0" marL="0">
              <a:buNone/>
            </a:pPr>
            <a:r>
              <a:rPr lang="en-US" sz="1300" dirty="0">
                <a:solidFill>
                  <a:srgbClr val="5A6472"/>
                </a:solidFill>
                <a:latin typeface="Calibri" pitchFamily="34" charset="0"/>
                <a:ea typeface="Calibri" pitchFamily="34" charset="-122"/>
                <a:cs typeface="Calibri" pitchFamily="34" charset="-120"/>
              </a:rPr>
              <a:t>from the lattice itself, to individual obstacles, to the structure that holds them</a:t>
            </a:r>
            <a:endParaRPr lang="en-US" sz="1300" dirty="0"/>
          </a:p>
        </p:txBody>
      </p:sp>
      <p:sp>
        <p:nvSpPr>
          <p:cNvPr id="4" name="Shape 2"/>
          <p:cNvSpPr/>
          <p:nvPr/>
        </p:nvSpPr>
        <p:spPr>
          <a:xfrm>
            <a:off x="457200" y="987552"/>
            <a:ext cx="5532120" cy="2670048"/>
          </a:xfrm>
          <a:prstGeom prst="roundRect">
            <a:avLst>
              <a:gd name="adj" fmla="val 2055"/>
            </a:avLst>
          </a:prstGeom>
          <a:solidFill>
            <a:srgbClr val="FFFFFF"/>
          </a:solidFill>
          <a:ln w="12700">
            <a:solidFill>
              <a:srgbClr val="C9D3DC"/>
            </a:solidFill>
            <a:prstDash val="solid"/>
          </a:ln>
          <a:effectLst>
            <a:outerShdw sx="100000" sy="100000" kx="0" ky="0" algn="bl" rotWithShape="0" blurRad="76200" dist="12700" dir="5400000">
              <a:srgbClr val="9AA7B4">
                <a:alpha val="22000"/>
              </a:srgbClr>
            </a:outerShdw>
          </a:effectLst>
        </p:spPr>
      </p:sp>
      <p:sp>
        <p:nvSpPr>
          <p:cNvPr id="5" name="Text 3"/>
          <p:cNvSpPr txBox="1"/>
          <p:nvPr/>
        </p:nvSpPr>
        <p:spPr>
          <a:xfrm>
            <a:off x="676656" y="1078992"/>
            <a:ext cx="5166360" cy="292608"/>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(a)   </a:t>
            </a:r>
            <a:pPr indent="0" marL="0">
              <a:buNone/>
            </a:pPr>
            <a:r>
              <a:rPr lang="en-US" sz="1400" dirty="0">
                <a:solidFill>
                  <a:srgbClr val="21295C"/>
                </a:solidFill>
                <a:latin typeface="Cambria" pitchFamily="34" charset="0"/>
                <a:ea typeface="Cambria" pitchFamily="34" charset="-122"/>
                <a:cs typeface="Cambria" pitchFamily="34" charset="-120"/>
              </a:rPr>
              <a:t>Lattice friction and kink pairs</a:t>
            </a:r>
            <a:endParaRPr lang="en-US" sz="1400" dirty="0"/>
          </a:p>
        </p:txBody>
      </p:sp>
      <p:sp>
        <p:nvSpPr>
          <p:cNvPr id="6" name="Shape 4"/>
          <p:cNvSpPr/>
          <p:nvPr/>
        </p:nvSpPr>
        <p:spPr>
          <a:xfrm>
            <a:off x="896112" y="3163824"/>
            <a:ext cx="2880360" cy="0"/>
          </a:xfrm>
          <a:prstGeom prst="line">
            <a:avLst/>
          </a:prstGeom>
          <a:noFill/>
          <a:ln w="88900">
            <a:solidFill>
              <a:srgbClr val="EEF2F6"/>
            </a:solidFill>
            <a:prstDash val="solid"/>
          </a:ln>
        </p:spPr>
      </p:sp>
      <p:sp>
        <p:nvSpPr>
          <p:cNvPr id="7" name="Shape 5"/>
          <p:cNvSpPr/>
          <p:nvPr/>
        </p:nvSpPr>
        <p:spPr>
          <a:xfrm>
            <a:off x="896112" y="3163824"/>
            <a:ext cx="2880360" cy="0"/>
          </a:xfrm>
          <a:prstGeom prst="line">
            <a:avLst/>
          </a:prstGeom>
          <a:noFill/>
          <a:ln w="15240">
            <a:solidFill>
              <a:srgbClr val="C9D3DC"/>
            </a:solidFill>
            <a:prstDash val="solid"/>
          </a:ln>
        </p:spPr>
      </p:sp>
      <p:sp>
        <p:nvSpPr>
          <p:cNvPr id="8" name="Shape 6"/>
          <p:cNvSpPr/>
          <p:nvPr/>
        </p:nvSpPr>
        <p:spPr>
          <a:xfrm>
            <a:off x="1133856" y="2994660"/>
            <a:ext cx="2880360" cy="0"/>
          </a:xfrm>
          <a:prstGeom prst="line">
            <a:avLst/>
          </a:prstGeom>
          <a:noFill/>
          <a:ln w="88900">
            <a:solidFill>
              <a:srgbClr val="EEF2F6"/>
            </a:solidFill>
            <a:prstDash val="solid"/>
          </a:ln>
        </p:spPr>
      </p:sp>
      <p:sp>
        <p:nvSpPr>
          <p:cNvPr id="9" name="Shape 7"/>
          <p:cNvSpPr/>
          <p:nvPr/>
        </p:nvSpPr>
        <p:spPr>
          <a:xfrm>
            <a:off x="1133856" y="2994660"/>
            <a:ext cx="2880360" cy="0"/>
          </a:xfrm>
          <a:prstGeom prst="line">
            <a:avLst/>
          </a:prstGeom>
          <a:noFill/>
          <a:ln w="15240">
            <a:solidFill>
              <a:srgbClr val="C9D3DC"/>
            </a:solidFill>
            <a:prstDash val="solid"/>
          </a:ln>
        </p:spPr>
      </p:sp>
      <p:sp>
        <p:nvSpPr>
          <p:cNvPr id="10" name="Shape 8"/>
          <p:cNvSpPr/>
          <p:nvPr/>
        </p:nvSpPr>
        <p:spPr>
          <a:xfrm>
            <a:off x="1371600" y="2825496"/>
            <a:ext cx="2880360" cy="0"/>
          </a:xfrm>
          <a:prstGeom prst="line">
            <a:avLst/>
          </a:prstGeom>
          <a:noFill/>
          <a:ln w="88900">
            <a:solidFill>
              <a:srgbClr val="EEF2F6"/>
            </a:solidFill>
            <a:prstDash val="solid"/>
          </a:ln>
        </p:spPr>
      </p:sp>
      <p:sp>
        <p:nvSpPr>
          <p:cNvPr id="11" name="Shape 9"/>
          <p:cNvSpPr/>
          <p:nvPr/>
        </p:nvSpPr>
        <p:spPr>
          <a:xfrm>
            <a:off x="1371600" y="2825496"/>
            <a:ext cx="2880360" cy="0"/>
          </a:xfrm>
          <a:prstGeom prst="line">
            <a:avLst/>
          </a:prstGeom>
          <a:noFill/>
          <a:ln w="20320">
            <a:solidFill>
              <a:srgbClr val="9AA7B4"/>
            </a:solidFill>
            <a:prstDash val="solid"/>
          </a:ln>
        </p:spPr>
      </p:sp>
      <p:sp>
        <p:nvSpPr>
          <p:cNvPr id="12" name="Shape 10"/>
          <p:cNvSpPr/>
          <p:nvPr/>
        </p:nvSpPr>
        <p:spPr>
          <a:xfrm>
            <a:off x="1609344" y="2656332"/>
            <a:ext cx="2880360" cy="0"/>
          </a:xfrm>
          <a:prstGeom prst="line">
            <a:avLst/>
          </a:prstGeom>
          <a:noFill/>
          <a:ln w="88900">
            <a:solidFill>
              <a:srgbClr val="EEF2F6"/>
            </a:solidFill>
            <a:prstDash val="solid"/>
          </a:ln>
        </p:spPr>
      </p:sp>
      <p:sp>
        <p:nvSpPr>
          <p:cNvPr id="13" name="Shape 11"/>
          <p:cNvSpPr/>
          <p:nvPr/>
        </p:nvSpPr>
        <p:spPr>
          <a:xfrm>
            <a:off x="1609344" y="2656332"/>
            <a:ext cx="2880360" cy="0"/>
          </a:xfrm>
          <a:prstGeom prst="line">
            <a:avLst/>
          </a:prstGeom>
          <a:noFill/>
          <a:ln w="20320">
            <a:solidFill>
              <a:srgbClr val="9AA7B4"/>
            </a:solidFill>
            <a:prstDash val="solid"/>
          </a:ln>
        </p:spPr>
      </p:sp>
      <p:sp>
        <p:nvSpPr>
          <p:cNvPr id="14" name="Shape 12"/>
          <p:cNvSpPr/>
          <p:nvPr/>
        </p:nvSpPr>
        <p:spPr>
          <a:xfrm>
            <a:off x="1847088" y="2487168"/>
            <a:ext cx="2880360" cy="0"/>
          </a:xfrm>
          <a:prstGeom prst="line">
            <a:avLst/>
          </a:prstGeom>
          <a:noFill/>
          <a:ln w="88900">
            <a:solidFill>
              <a:srgbClr val="EEF2F6"/>
            </a:solidFill>
            <a:prstDash val="solid"/>
          </a:ln>
        </p:spPr>
      </p:sp>
      <p:sp>
        <p:nvSpPr>
          <p:cNvPr id="15" name="Shape 13"/>
          <p:cNvSpPr/>
          <p:nvPr/>
        </p:nvSpPr>
        <p:spPr>
          <a:xfrm>
            <a:off x="1847088" y="2487168"/>
            <a:ext cx="2880360" cy="0"/>
          </a:xfrm>
          <a:prstGeom prst="line">
            <a:avLst/>
          </a:prstGeom>
          <a:noFill/>
          <a:ln w="15240">
            <a:solidFill>
              <a:srgbClr val="C9D3DC"/>
            </a:solidFill>
            <a:prstDash val="solid"/>
          </a:ln>
        </p:spPr>
      </p:sp>
      <p:sp>
        <p:nvSpPr>
          <p:cNvPr id="16" name="Shape 14"/>
          <p:cNvSpPr/>
          <p:nvPr/>
        </p:nvSpPr>
        <p:spPr>
          <a:xfrm>
            <a:off x="2084832" y="2318004"/>
            <a:ext cx="2880360" cy="0"/>
          </a:xfrm>
          <a:prstGeom prst="line">
            <a:avLst/>
          </a:prstGeom>
          <a:noFill/>
          <a:ln w="88900">
            <a:solidFill>
              <a:srgbClr val="EEF2F6"/>
            </a:solidFill>
            <a:prstDash val="solid"/>
          </a:ln>
        </p:spPr>
      </p:sp>
      <p:sp>
        <p:nvSpPr>
          <p:cNvPr id="17" name="Shape 15"/>
          <p:cNvSpPr/>
          <p:nvPr/>
        </p:nvSpPr>
        <p:spPr>
          <a:xfrm>
            <a:off x="2084832" y="2318004"/>
            <a:ext cx="2880360" cy="0"/>
          </a:xfrm>
          <a:prstGeom prst="line">
            <a:avLst/>
          </a:prstGeom>
          <a:noFill/>
          <a:ln w="15240">
            <a:solidFill>
              <a:srgbClr val="C9D3DC"/>
            </a:solidFill>
            <a:prstDash val="solid"/>
          </a:ln>
        </p:spPr>
      </p:sp>
      <p:sp>
        <p:nvSpPr>
          <p:cNvPr id="18" name="Shape 16"/>
          <p:cNvSpPr/>
          <p:nvPr/>
        </p:nvSpPr>
        <p:spPr>
          <a:xfrm>
            <a:off x="2322576" y="2148840"/>
            <a:ext cx="2880360" cy="0"/>
          </a:xfrm>
          <a:prstGeom prst="line">
            <a:avLst/>
          </a:prstGeom>
          <a:noFill/>
          <a:ln w="88900">
            <a:solidFill>
              <a:srgbClr val="EEF2F6"/>
            </a:solidFill>
            <a:prstDash val="solid"/>
          </a:ln>
        </p:spPr>
      </p:sp>
      <p:sp>
        <p:nvSpPr>
          <p:cNvPr id="19" name="Shape 17"/>
          <p:cNvSpPr/>
          <p:nvPr/>
        </p:nvSpPr>
        <p:spPr>
          <a:xfrm>
            <a:off x="2322576" y="2148840"/>
            <a:ext cx="2880360" cy="0"/>
          </a:xfrm>
          <a:prstGeom prst="line">
            <a:avLst/>
          </a:prstGeom>
          <a:noFill/>
          <a:ln w="15240">
            <a:solidFill>
              <a:srgbClr val="C9D3DC"/>
            </a:solidFill>
            <a:prstDash val="solid"/>
          </a:ln>
        </p:spPr>
      </p:sp>
      <p:sp>
        <p:nvSpPr>
          <p:cNvPr id="20" name="Shape 18"/>
          <p:cNvSpPr/>
          <p:nvPr/>
        </p:nvSpPr>
        <p:spPr>
          <a:xfrm>
            <a:off x="2560320" y="1979676"/>
            <a:ext cx="2880360" cy="0"/>
          </a:xfrm>
          <a:prstGeom prst="line">
            <a:avLst/>
          </a:prstGeom>
          <a:noFill/>
          <a:ln w="88900">
            <a:solidFill>
              <a:srgbClr val="EEF2F6"/>
            </a:solidFill>
            <a:prstDash val="solid"/>
          </a:ln>
        </p:spPr>
      </p:sp>
      <p:sp>
        <p:nvSpPr>
          <p:cNvPr id="21" name="Shape 19"/>
          <p:cNvSpPr/>
          <p:nvPr/>
        </p:nvSpPr>
        <p:spPr>
          <a:xfrm>
            <a:off x="2560320" y="1979676"/>
            <a:ext cx="2880360" cy="0"/>
          </a:xfrm>
          <a:prstGeom prst="line">
            <a:avLst/>
          </a:prstGeom>
          <a:noFill/>
          <a:ln w="15240">
            <a:solidFill>
              <a:srgbClr val="C9D3DC"/>
            </a:solidFill>
            <a:prstDash val="solid"/>
          </a:ln>
        </p:spPr>
      </p:sp>
      <p:sp>
        <p:nvSpPr>
          <p:cNvPr id="22" name="Shape 20"/>
          <p:cNvSpPr/>
          <p:nvPr/>
        </p:nvSpPr>
        <p:spPr>
          <a:xfrm>
            <a:off x="896112" y="3163824"/>
            <a:ext cx="1664208" cy="-1184148"/>
          </a:xfrm>
          <a:prstGeom prst="line">
            <a:avLst/>
          </a:prstGeom>
          <a:noFill/>
          <a:ln w="15240">
            <a:solidFill>
              <a:srgbClr val="C9D3DC"/>
            </a:solidFill>
            <a:prstDash val="solid"/>
          </a:ln>
        </p:spPr>
      </p:sp>
      <p:sp>
        <p:nvSpPr>
          <p:cNvPr id="23" name="Shape 21"/>
          <p:cNvSpPr/>
          <p:nvPr/>
        </p:nvSpPr>
        <p:spPr>
          <a:xfrm>
            <a:off x="3776472" y="3163824"/>
            <a:ext cx="1664208" cy="-1184148"/>
          </a:xfrm>
          <a:prstGeom prst="line">
            <a:avLst/>
          </a:prstGeom>
          <a:noFill/>
          <a:ln w="15240">
            <a:solidFill>
              <a:srgbClr val="C9D3DC"/>
            </a:solidFill>
            <a:prstDash val="solid"/>
          </a:ln>
        </p:spPr>
      </p:sp>
      <p:sp>
        <p:nvSpPr>
          <p:cNvPr id="24" name="Text 22"/>
          <p:cNvSpPr txBox="1"/>
          <p:nvPr/>
        </p:nvSpPr>
        <p:spPr>
          <a:xfrm>
            <a:off x="4069080" y="1389888"/>
            <a:ext cx="1737360" cy="237744"/>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Peierls valleys</a:t>
            </a:r>
            <a:endParaRPr lang="en-US" sz="1050" dirty="0"/>
          </a:p>
        </p:txBody>
      </p:sp>
      <p:sp>
        <p:nvSpPr>
          <p:cNvPr id="25" name="Shape 23"/>
          <p:cNvSpPr/>
          <p:nvPr/>
        </p:nvSpPr>
        <p:spPr>
          <a:xfrm>
            <a:off x="4663440" y="1627632"/>
            <a:ext cx="320040" cy="164592"/>
          </a:xfrm>
          <a:prstGeom prst="line">
            <a:avLst/>
          </a:prstGeom>
          <a:noFill/>
          <a:ln w="12700">
            <a:solidFill>
              <a:srgbClr val="9AA7B4"/>
            </a:solidFill>
            <a:prstDash val="solid"/>
            <a:tailEnd type="triangle"/>
          </a:ln>
        </p:spPr>
      </p:sp>
      <p:sp>
        <p:nvSpPr>
          <p:cNvPr id="26" name="Shape 24"/>
          <p:cNvSpPr/>
          <p:nvPr/>
        </p:nvSpPr>
        <p:spPr>
          <a:xfrm>
            <a:off x="2148840" y="2487168"/>
            <a:ext cx="896112" cy="0"/>
          </a:xfrm>
          <a:prstGeom prst="line">
            <a:avLst/>
          </a:prstGeom>
          <a:noFill/>
          <a:ln w="38100">
            <a:solidFill>
              <a:srgbClr val="1C7293"/>
            </a:solidFill>
            <a:prstDash val="solid"/>
          </a:ln>
        </p:spPr>
      </p:sp>
      <p:sp>
        <p:nvSpPr>
          <p:cNvPr id="27" name="Shape 25"/>
          <p:cNvSpPr/>
          <p:nvPr/>
        </p:nvSpPr>
        <p:spPr>
          <a:xfrm>
            <a:off x="3044952" y="2487168"/>
            <a:ext cx="237744" cy="-169164"/>
          </a:xfrm>
          <a:prstGeom prst="line">
            <a:avLst/>
          </a:prstGeom>
          <a:noFill/>
          <a:ln w="38100">
            <a:solidFill>
              <a:srgbClr val="1C7293"/>
            </a:solidFill>
            <a:prstDash val="solid"/>
          </a:ln>
        </p:spPr>
      </p:sp>
      <p:sp>
        <p:nvSpPr>
          <p:cNvPr id="28" name="Shape 26"/>
          <p:cNvSpPr/>
          <p:nvPr/>
        </p:nvSpPr>
        <p:spPr>
          <a:xfrm>
            <a:off x="3282696" y="2318004"/>
            <a:ext cx="786384" cy="0"/>
          </a:xfrm>
          <a:prstGeom prst="line">
            <a:avLst/>
          </a:prstGeom>
          <a:noFill/>
          <a:ln w="38100">
            <a:solidFill>
              <a:srgbClr val="1C7293"/>
            </a:solidFill>
            <a:prstDash val="solid"/>
          </a:ln>
        </p:spPr>
      </p:sp>
      <p:sp>
        <p:nvSpPr>
          <p:cNvPr id="29" name="Shape 27"/>
          <p:cNvSpPr/>
          <p:nvPr/>
        </p:nvSpPr>
        <p:spPr>
          <a:xfrm>
            <a:off x="4069080" y="2318004"/>
            <a:ext cx="237744" cy="169164"/>
          </a:xfrm>
          <a:prstGeom prst="line">
            <a:avLst/>
          </a:prstGeom>
          <a:noFill/>
          <a:ln w="38100">
            <a:solidFill>
              <a:srgbClr val="1C7293"/>
            </a:solidFill>
            <a:prstDash val="solid"/>
          </a:ln>
        </p:spPr>
      </p:sp>
      <p:sp>
        <p:nvSpPr>
          <p:cNvPr id="30" name="Shape 28"/>
          <p:cNvSpPr/>
          <p:nvPr/>
        </p:nvSpPr>
        <p:spPr>
          <a:xfrm>
            <a:off x="4306824" y="2487168"/>
            <a:ext cx="356616" cy="0"/>
          </a:xfrm>
          <a:prstGeom prst="line">
            <a:avLst/>
          </a:prstGeom>
          <a:noFill/>
          <a:ln w="38100">
            <a:solidFill>
              <a:srgbClr val="1C7293"/>
            </a:solidFill>
            <a:prstDash val="solid"/>
          </a:ln>
        </p:spPr>
      </p:sp>
      <p:sp>
        <p:nvSpPr>
          <p:cNvPr id="31" name="Text 29"/>
          <p:cNvSpPr txBox="1"/>
          <p:nvPr/>
        </p:nvSpPr>
        <p:spPr>
          <a:xfrm>
            <a:off x="2395728" y="1609344"/>
            <a:ext cx="1005840" cy="237744"/>
          </a:xfrm>
          <a:prstGeom prst="rect">
            <a:avLst/>
          </a:prstGeom>
          <a:noFill/>
          <a:ln/>
        </p:spPr>
        <p:txBody>
          <a:bodyPr wrap="square" lIns="0" tIns="0" rIns="0" bIns="0" rtlCol="0" anchor="ctr"/>
          <a:lstStyle/>
          <a:p>
            <a:pPr algn="ctr" indent="0" marL="0">
              <a:buNone/>
            </a:pPr>
            <a:r>
              <a:rPr lang="en-US" sz="1050" b="1" dirty="0">
                <a:solidFill>
                  <a:srgbClr val="1C7293"/>
                </a:solidFill>
                <a:latin typeface="Calibri" pitchFamily="34" charset="0"/>
                <a:ea typeface="Calibri" pitchFamily="34" charset="-122"/>
                <a:cs typeface="Calibri" pitchFamily="34" charset="-120"/>
              </a:rPr>
              <a:t>kink pair</a:t>
            </a:r>
            <a:endParaRPr lang="en-US" sz="1050" dirty="0"/>
          </a:p>
        </p:txBody>
      </p:sp>
      <p:sp>
        <p:nvSpPr>
          <p:cNvPr id="32" name="Shape 30"/>
          <p:cNvSpPr/>
          <p:nvPr/>
        </p:nvSpPr>
        <p:spPr>
          <a:xfrm>
            <a:off x="3017520" y="1847088"/>
            <a:ext cx="329184" cy="475488"/>
          </a:xfrm>
          <a:prstGeom prst="line">
            <a:avLst/>
          </a:prstGeom>
          <a:noFill/>
          <a:ln w="12700">
            <a:solidFill>
              <a:srgbClr val="1C7293"/>
            </a:solidFill>
            <a:prstDash val="solid"/>
          </a:ln>
        </p:spPr>
      </p:sp>
      <p:sp>
        <p:nvSpPr>
          <p:cNvPr id="33" name="Text 31"/>
          <p:cNvSpPr txBox="1"/>
          <p:nvPr/>
        </p:nvSpPr>
        <p:spPr>
          <a:xfrm>
            <a:off x="914400" y="2377440"/>
            <a:ext cx="1188720" cy="219456"/>
          </a:xfrm>
          <a:prstGeom prst="rect">
            <a:avLst/>
          </a:prstGeom>
          <a:solidFill>
            <a:srgbClr val="FFFFFF"/>
          </a:solidFill>
          <a:ln/>
        </p:spPr>
        <p:txBody>
          <a:bodyPr wrap="square" lIns="0" tIns="0" rIns="0" bIns="0" rtlCol="0" anchor="ctr"/>
          <a:lstStyle/>
          <a:p>
            <a:pPr algn="l" indent="0" marL="0">
              <a:buNone/>
            </a:pPr>
            <a:r>
              <a:rPr lang="en-US" sz="1000" dirty="0">
                <a:solidFill>
                  <a:srgbClr val="1C7293"/>
                </a:solidFill>
                <a:latin typeface="Calibri" pitchFamily="34" charset="0"/>
                <a:ea typeface="Calibri" pitchFamily="34" charset="-122"/>
                <a:cs typeface="Calibri" pitchFamily="34" charset="-120"/>
              </a:rPr>
              <a:t>dislocation line</a:t>
            </a:r>
            <a:endParaRPr lang="en-US" sz="1000" dirty="0"/>
          </a:p>
        </p:txBody>
      </p:sp>
      <p:sp>
        <p:nvSpPr>
          <p:cNvPr id="34" name="Shape 32"/>
          <p:cNvSpPr/>
          <p:nvPr/>
        </p:nvSpPr>
        <p:spPr>
          <a:xfrm>
            <a:off x="2048256" y="2487168"/>
            <a:ext cx="128016" cy="0"/>
          </a:xfrm>
          <a:prstGeom prst="line">
            <a:avLst/>
          </a:prstGeom>
          <a:noFill/>
          <a:ln w="12700">
            <a:solidFill>
              <a:srgbClr val="1C7293"/>
            </a:solidFill>
            <a:prstDash val="solid"/>
          </a:ln>
        </p:spPr>
      </p:sp>
      <p:sp>
        <p:nvSpPr>
          <p:cNvPr id="35" name="Text 33"/>
          <p:cNvSpPr txBox="1"/>
          <p:nvPr/>
        </p:nvSpPr>
        <p:spPr>
          <a:xfrm>
            <a:off x="676656" y="3236976"/>
            <a:ext cx="5074920" cy="310896"/>
          </a:xfrm>
          <a:prstGeom prst="rect">
            <a:avLst/>
          </a:prstGeom>
          <a:noFill/>
          <a:ln/>
        </p:spPr>
        <p:txBody>
          <a:bodyPr wrap="square" lIns="0" tIns="0" rIns="0" bIns="0" rtlCol="0" anchor="t"/>
          <a:lstStyle/>
          <a:p>
            <a:pPr indent="0" marL="0">
              <a:buNone/>
            </a:pPr>
            <a:r>
              <a:rPr lang="en-US" sz="1050" i="1" dirty="0">
                <a:solidFill>
                  <a:srgbClr val="5A6472"/>
                </a:solidFill>
                <a:latin typeface="Calibri" pitchFamily="34" charset="0"/>
                <a:ea typeface="Calibri" pitchFamily="34" charset="-122"/>
                <a:cs typeface="Calibri" pitchFamily="34" charset="-120"/>
              </a:rPr>
              <a:t>the line sits in a valley and moves forward by throwing a kink pair into the next one</a:t>
            </a:r>
            <a:endParaRPr lang="en-US" sz="1050" dirty="0"/>
          </a:p>
        </p:txBody>
      </p:sp>
      <p:sp>
        <p:nvSpPr>
          <p:cNvPr id="36" name="Shape 34"/>
          <p:cNvSpPr/>
          <p:nvPr/>
        </p:nvSpPr>
        <p:spPr>
          <a:xfrm>
            <a:off x="6199632" y="987552"/>
            <a:ext cx="5532120" cy="2670048"/>
          </a:xfrm>
          <a:prstGeom prst="roundRect">
            <a:avLst>
              <a:gd name="adj" fmla="val 2055"/>
            </a:avLst>
          </a:prstGeom>
          <a:solidFill>
            <a:srgbClr val="FFFFFF"/>
          </a:solidFill>
          <a:ln w="12700">
            <a:solidFill>
              <a:srgbClr val="C9D3DC"/>
            </a:solidFill>
            <a:prstDash val="solid"/>
          </a:ln>
          <a:effectLst>
            <a:outerShdw sx="100000" sy="100000" kx="0" ky="0" algn="bl" rotWithShape="0" blurRad="76200" dist="12700" dir="5400000">
              <a:srgbClr val="9AA7B4">
                <a:alpha val="22000"/>
              </a:srgbClr>
            </a:outerShdw>
          </a:effectLst>
        </p:spPr>
      </p:sp>
      <p:sp>
        <p:nvSpPr>
          <p:cNvPr id="37" name="Text 35"/>
          <p:cNvSpPr txBox="1"/>
          <p:nvPr/>
        </p:nvSpPr>
        <p:spPr>
          <a:xfrm>
            <a:off x="6419088" y="1078992"/>
            <a:ext cx="5166360" cy="292608"/>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(b)   </a:t>
            </a:r>
            <a:pPr indent="0" marL="0">
              <a:buNone/>
            </a:pPr>
            <a:r>
              <a:rPr lang="en-US" sz="1400" dirty="0">
                <a:solidFill>
                  <a:srgbClr val="21295C"/>
                </a:solidFill>
                <a:latin typeface="Cambria" pitchFamily="34" charset="0"/>
                <a:ea typeface="Cambria" pitchFamily="34" charset="-122"/>
                <a:cs typeface="Cambria" pitchFamily="34" charset="-120"/>
              </a:rPr>
              <a:t>Waiting at discrete obstacles</a:t>
            </a:r>
            <a:endParaRPr lang="en-US" sz="1400" dirty="0"/>
          </a:p>
        </p:txBody>
      </p:sp>
      <p:sp>
        <p:nvSpPr>
          <p:cNvPr id="38" name="Shape 36"/>
          <p:cNvSpPr/>
          <p:nvPr/>
        </p:nvSpPr>
        <p:spPr>
          <a:xfrm>
            <a:off x="6638544" y="2944368"/>
            <a:ext cx="0" cy="-658368"/>
          </a:xfrm>
          <a:prstGeom prst="line">
            <a:avLst/>
          </a:prstGeom>
          <a:noFill/>
          <a:ln w="38100">
            <a:solidFill>
              <a:srgbClr val="21295C"/>
            </a:solidFill>
            <a:prstDash val="solid"/>
            <a:tailEnd type="triangle"/>
          </a:ln>
        </p:spPr>
      </p:sp>
      <p:sp>
        <p:nvSpPr>
          <p:cNvPr id="39" name="Text 37"/>
          <p:cNvSpPr txBox="1"/>
          <p:nvPr/>
        </p:nvSpPr>
        <p:spPr>
          <a:xfrm>
            <a:off x="6236208" y="1847088"/>
            <a:ext cx="822960" cy="402336"/>
          </a:xfrm>
          <a:prstGeom prst="rect">
            <a:avLst/>
          </a:prstGeom>
          <a:noFill/>
          <a:ln/>
        </p:spPr>
        <p:txBody>
          <a:bodyPr wrap="square" lIns="0" tIns="0" rIns="0" bIns="0" rtlCol="0" anchor="t"/>
          <a:lstStyle/>
          <a:p>
            <a:pPr algn="ctr" indent="0" marL="0">
              <a:buNone/>
            </a:pPr>
            <a:r>
              <a:rPr lang="en-US" sz="1000" dirty="0">
                <a:solidFill>
                  <a:srgbClr val="21295C"/>
                </a:solidFill>
                <a:latin typeface="Calibri" pitchFamily="34" charset="0"/>
                <a:ea typeface="Calibri" pitchFamily="34" charset="-122"/>
                <a:cs typeface="Calibri" pitchFamily="34" charset="-120"/>
              </a:rPr>
              <a:t>applied</a:t>
            </a:r>
            <a:endParaRPr lang="en-US" sz="1000" dirty="0"/>
          </a:p>
          <a:p>
            <a:pPr algn="ctr" indent="0" marL="0">
              <a:buNone/>
            </a:pPr>
            <a:r>
              <a:rPr lang="en-US" sz="1000" dirty="0">
                <a:solidFill>
                  <a:srgbClr val="21295C"/>
                </a:solidFill>
                <a:latin typeface="Calibri" pitchFamily="34" charset="0"/>
                <a:ea typeface="Calibri" pitchFamily="34" charset="-122"/>
                <a:cs typeface="Calibri" pitchFamily="34" charset="-120"/>
              </a:rPr>
              <a:t>stress</a:t>
            </a:r>
            <a:endParaRPr lang="en-US" sz="1000" dirty="0"/>
          </a:p>
        </p:txBody>
      </p:sp>
      <p:sp>
        <p:nvSpPr>
          <p:cNvPr id="40" name="Shape 38"/>
          <p:cNvSpPr/>
          <p:nvPr/>
        </p:nvSpPr>
        <p:spPr>
          <a:xfrm>
            <a:off x="7900416" y="2377440"/>
            <a:ext cx="475488" cy="475488"/>
          </a:xfrm>
          <a:prstGeom prst="ellipse">
            <a:avLst/>
          </a:prstGeom>
          <a:solidFill>
            <a:srgbClr val="B85042"/>
          </a:solidFill>
          <a:ln w="12700">
            <a:solidFill>
              <a:srgbClr val="B85042"/>
            </a:solidFill>
            <a:prstDash val="solid"/>
          </a:ln>
        </p:spPr>
      </p:sp>
      <p:sp>
        <p:nvSpPr>
          <p:cNvPr id="41" name="Shape 39"/>
          <p:cNvSpPr/>
          <p:nvPr/>
        </p:nvSpPr>
        <p:spPr>
          <a:xfrm>
            <a:off x="10003536" y="2377440"/>
            <a:ext cx="475488" cy="475488"/>
          </a:xfrm>
          <a:prstGeom prst="ellipse">
            <a:avLst/>
          </a:prstGeom>
          <a:solidFill>
            <a:srgbClr val="B85042"/>
          </a:solidFill>
          <a:ln w="12700">
            <a:solidFill>
              <a:srgbClr val="B85042"/>
            </a:solidFill>
            <a:prstDash val="solid"/>
          </a:ln>
        </p:spPr>
      </p:sp>
      <p:sp>
        <p:nvSpPr>
          <p:cNvPr id="42" name="Shape 40"/>
          <p:cNvSpPr/>
          <p:nvPr/>
        </p:nvSpPr>
        <p:spPr>
          <a:xfrm>
            <a:off x="7086600" y="2615184"/>
            <a:ext cx="1051560" cy="0"/>
          </a:xfrm>
          <a:prstGeom prst="line">
            <a:avLst/>
          </a:prstGeom>
          <a:noFill/>
          <a:ln w="38100">
            <a:solidFill>
              <a:srgbClr val="1C7293"/>
            </a:solidFill>
            <a:prstDash val="solid"/>
          </a:ln>
        </p:spPr>
      </p:sp>
      <p:sp>
        <p:nvSpPr>
          <p:cNvPr id="43" name="Shape 41"/>
          <p:cNvSpPr/>
          <p:nvPr/>
        </p:nvSpPr>
        <p:spPr>
          <a:xfrm>
            <a:off x="8138160" y="2615184"/>
            <a:ext cx="384048" cy="-274320"/>
          </a:xfrm>
          <a:prstGeom prst="line">
            <a:avLst/>
          </a:prstGeom>
          <a:noFill/>
          <a:ln w="38100">
            <a:solidFill>
              <a:srgbClr val="1C7293"/>
            </a:solidFill>
            <a:prstDash val="solid"/>
          </a:ln>
        </p:spPr>
      </p:sp>
      <p:sp>
        <p:nvSpPr>
          <p:cNvPr id="44" name="Shape 42"/>
          <p:cNvSpPr/>
          <p:nvPr/>
        </p:nvSpPr>
        <p:spPr>
          <a:xfrm>
            <a:off x="8522208" y="2340864"/>
            <a:ext cx="347472" cy="-109728"/>
          </a:xfrm>
          <a:prstGeom prst="line">
            <a:avLst/>
          </a:prstGeom>
          <a:noFill/>
          <a:ln w="38100">
            <a:solidFill>
              <a:srgbClr val="1C7293"/>
            </a:solidFill>
            <a:prstDash val="solid"/>
          </a:ln>
        </p:spPr>
      </p:sp>
      <p:sp>
        <p:nvSpPr>
          <p:cNvPr id="45" name="Shape 43"/>
          <p:cNvSpPr/>
          <p:nvPr/>
        </p:nvSpPr>
        <p:spPr>
          <a:xfrm>
            <a:off x="8869680" y="2231136"/>
            <a:ext cx="658368" cy="0"/>
          </a:xfrm>
          <a:prstGeom prst="line">
            <a:avLst/>
          </a:prstGeom>
          <a:noFill/>
          <a:ln w="38100">
            <a:solidFill>
              <a:srgbClr val="1C7293"/>
            </a:solidFill>
            <a:prstDash val="solid"/>
          </a:ln>
        </p:spPr>
      </p:sp>
      <p:sp>
        <p:nvSpPr>
          <p:cNvPr id="46" name="Shape 44"/>
          <p:cNvSpPr/>
          <p:nvPr/>
        </p:nvSpPr>
        <p:spPr>
          <a:xfrm>
            <a:off x="9528048" y="2231136"/>
            <a:ext cx="347472" cy="109728"/>
          </a:xfrm>
          <a:prstGeom prst="line">
            <a:avLst/>
          </a:prstGeom>
          <a:noFill/>
          <a:ln w="38100">
            <a:solidFill>
              <a:srgbClr val="1C7293"/>
            </a:solidFill>
            <a:prstDash val="solid"/>
          </a:ln>
        </p:spPr>
      </p:sp>
      <p:sp>
        <p:nvSpPr>
          <p:cNvPr id="47" name="Shape 45"/>
          <p:cNvSpPr/>
          <p:nvPr/>
        </p:nvSpPr>
        <p:spPr>
          <a:xfrm>
            <a:off x="9875520" y="2340864"/>
            <a:ext cx="365760" cy="274320"/>
          </a:xfrm>
          <a:prstGeom prst="line">
            <a:avLst/>
          </a:prstGeom>
          <a:noFill/>
          <a:ln w="38100">
            <a:solidFill>
              <a:srgbClr val="1C7293"/>
            </a:solidFill>
            <a:prstDash val="solid"/>
          </a:ln>
        </p:spPr>
      </p:sp>
      <p:sp>
        <p:nvSpPr>
          <p:cNvPr id="48" name="Shape 46"/>
          <p:cNvSpPr/>
          <p:nvPr/>
        </p:nvSpPr>
        <p:spPr>
          <a:xfrm>
            <a:off x="10241280" y="2615184"/>
            <a:ext cx="1188720" cy="0"/>
          </a:xfrm>
          <a:prstGeom prst="line">
            <a:avLst/>
          </a:prstGeom>
          <a:noFill/>
          <a:ln w="38100">
            <a:solidFill>
              <a:srgbClr val="1C7293"/>
            </a:solidFill>
            <a:prstDash val="solid"/>
            <a:tailEnd type="triangle"/>
          </a:ln>
        </p:spPr>
      </p:sp>
      <p:sp>
        <p:nvSpPr>
          <p:cNvPr id="49" name="Text 47"/>
          <p:cNvSpPr txBox="1"/>
          <p:nvPr/>
        </p:nvSpPr>
        <p:spPr>
          <a:xfrm>
            <a:off x="7644384" y="2889504"/>
            <a:ext cx="1005840" cy="219456"/>
          </a:xfrm>
          <a:prstGeom prst="rect">
            <a:avLst/>
          </a:prstGeom>
          <a:noFill/>
          <a:ln/>
        </p:spPr>
        <p:txBody>
          <a:bodyPr wrap="square" lIns="0" tIns="0" rIns="0" bIns="0" rtlCol="0" anchor="ctr"/>
          <a:lstStyle/>
          <a:p>
            <a:pPr algn="ctr" indent="0" marL="0">
              <a:buNone/>
            </a:pPr>
            <a:r>
              <a:rPr lang="en-US" sz="1000" dirty="0">
                <a:solidFill>
                  <a:srgbClr val="B85042"/>
                </a:solidFill>
                <a:latin typeface="Calibri" pitchFamily="34" charset="0"/>
                <a:ea typeface="Calibri" pitchFamily="34" charset="-122"/>
                <a:cs typeface="Calibri" pitchFamily="34" charset="-120"/>
              </a:rPr>
              <a:t>obstacles</a:t>
            </a:r>
            <a:endParaRPr lang="en-US" sz="1000" dirty="0"/>
          </a:p>
        </p:txBody>
      </p:sp>
      <p:sp>
        <p:nvSpPr>
          <p:cNvPr id="50" name="Text 48"/>
          <p:cNvSpPr txBox="1"/>
          <p:nvPr/>
        </p:nvSpPr>
        <p:spPr>
          <a:xfrm>
            <a:off x="8540496" y="1920240"/>
            <a:ext cx="1325880" cy="219456"/>
          </a:xfrm>
          <a:prstGeom prst="rect">
            <a:avLst/>
          </a:prstGeom>
          <a:solidFill>
            <a:srgbClr val="FFFFFF"/>
          </a:solidFill>
          <a:ln/>
        </p:spPr>
        <p:txBody>
          <a:bodyPr wrap="square" lIns="0" tIns="0" rIns="0" bIns="0" rtlCol="0" anchor="ctr"/>
          <a:lstStyle/>
          <a:p>
            <a:pPr algn="ctr" indent="0" marL="0">
              <a:buNone/>
            </a:pPr>
            <a:r>
              <a:rPr lang="en-US" sz="1000" dirty="0">
                <a:solidFill>
                  <a:srgbClr val="1C7293"/>
                </a:solidFill>
                <a:latin typeface="Calibri" pitchFamily="34" charset="0"/>
                <a:ea typeface="Calibri" pitchFamily="34" charset="-122"/>
                <a:cs typeface="Calibri" pitchFamily="34" charset="-120"/>
              </a:rPr>
              <a:t>bowed segment</a:t>
            </a:r>
            <a:endParaRPr lang="en-US" sz="1000" dirty="0"/>
          </a:p>
        </p:txBody>
      </p:sp>
      <p:sp>
        <p:nvSpPr>
          <p:cNvPr id="51" name="Shape 49"/>
          <p:cNvSpPr/>
          <p:nvPr/>
        </p:nvSpPr>
        <p:spPr>
          <a:xfrm>
            <a:off x="9198864" y="2139696"/>
            <a:ext cx="0" cy="91440"/>
          </a:xfrm>
          <a:prstGeom prst="line">
            <a:avLst/>
          </a:prstGeom>
          <a:noFill/>
          <a:ln w="12700">
            <a:solidFill>
              <a:srgbClr val="1C7293"/>
            </a:solidFill>
            <a:prstDash val="solid"/>
          </a:ln>
        </p:spPr>
      </p:sp>
      <p:sp>
        <p:nvSpPr>
          <p:cNvPr id="52" name="Shape 50"/>
          <p:cNvSpPr/>
          <p:nvPr/>
        </p:nvSpPr>
        <p:spPr>
          <a:xfrm>
            <a:off x="10076688" y="2615184"/>
            <a:ext cx="128016" cy="-457200"/>
          </a:xfrm>
          <a:prstGeom prst="line">
            <a:avLst/>
          </a:prstGeom>
          <a:noFill/>
          <a:ln w="25400">
            <a:solidFill>
              <a:srgbClr val="065A82"/>
            </a:solidFill>
            <a:prstDash val="dash"/>
          </a:ln>
        </p:spPr>
      </p:sp>
      <p:sp>
        <p:nvSpPr>
          <p:cNvPr id="53" name="Shape 51"/>
          <p:cNvSpPr/>
          <p:nvPr/>
        </p:nvSpPr>
        <p:spPr>
          <a:xfrm>
            <a:off x="10204704" y="2157984"/>
            <a:ext cx="201168" cy="0"/>
          </a:xfrm>
          <a:prstGeom prst="line">
            <a:avLst/>
          </a:prstGeom>
          <a:noFill/>
          <a:ln w="25400">
            <a:solidFill>
              <a:srgbClr val="065A82"/>
            </a:solidFill>
            <a:prstDash val="dash"/>
          </a:ln>
        </p:spPr>
      </p:sp>
      <p:sp>
        <p:nvSpPr>
          <p:cNvPr id="54" name="Shape 52"/>
          <p:cNvSpPr/>
          <p:nvPr/>
        </p:nvSpPr>
        <p:spPr>
          <a:xfrm>
            <a:off x="10405872" y="2157984"/>
            <a:ext cx="128016" cy="457200"/>
          </a:xfrm>
          <a:prstGeom prst="line">
            <a:avLst/>
          </a:prstGeom>
          <a:noFill/>
          <a:ln w="25400">
            <a:solidFill>
              <a:srgbClr val="065A82"/>
            </a:solidFill>
            <a:prstDash val="dash"/>
          </a:ln>
        </p:spPr>
      </p:sp>
      <p:sp>
        <p:nvSpPr>
          <p:cNvPr id="55" name="Text 53"/>
          <p:cNvSpPr txBox="1"/>
          <p:nvPr/>
        </p:nvSpPr>
        <p:spPr>
          <a:xfrm>
            <a:off x="10607040" y="1883664"/>
            <a:ext cx="1188720" cy="420624"/>
          </a:xfrm>
          <a:prstGeom prst="rect">
            <a:avLst/>
          </a:prstGeom>
          <a:noFill/>
          <a:ln/>
        </p:spPr>
        <p:txBody>
          <a:bodyPr wrap="square" lIns="0" tIns="0" rIns="0" bIns="0" rtlCol="0" anchor="t"/>
          <a:lstStyle/>
          <a:p>
            <a:pPr algn="ctr" indent="0" marL="0">
              <a:buNone/>
            </a:pPr>
            <a:r>
              <a:rPr lang="en-US" sz="1000" dirty="0">
                <a:solidFill>
                  <a:srgbClr val="065A82"/>
                </a:solidFill>
                <a:latin typeface="Calibri" pitchFamily="34" charset="0"/>
                <a:ea typeface="Calibri" pitchFamily="34" charset="-122"/>
                <a:cs typeface="Calibri" pitchFamily="34" charset="-120"/>
              </a:rPr>
              <a:t>break away,</a:t>
            </a:r>
            <a:endParaRPr lang="en-US" sz="1000" dirty="0"/>
          </a:p>
          <a:p>
            <a:pPr algn="ctr" indent="0" marL="0">
              <a:buNone/>
            </a:pPr>
            <a:r>
              <a:rPr lang="en-US" sz="1000" dirty="0">
                <a:solidFill>
                  <a:srgbClr val="065A82"/>
                </a:solidFill>
                <a:latin typeface="Calibri" pitchFamily="34" charset="0"/>
                <a:ea typeface="Calibri" pitchFamily="34" charset="-122"/>
                <a:cs typeface="Calibri" pitchFamily="34" charset="-120"/>
              </a:rPr>
              <a:t>or climb over</a:t>
            </a:r>
            <a:endParaRPr lang="en-US" sz="1000" dirty="0"/>
          </a:p>
        </p:txBody>
      </p:sp>
      <p:sp>
        <p:nvSpPr>
          <p:cNvPr id="56" name="Shape 54"/>
          <p:cNvSpPr/>
          <p:nvPr/>
        </p:nvSpPr>
        <p:spPr>
          <a:xfrm>
            <a:off x="10881360" y="2322576"/>
            <a:ext cx="-475488" cy="201168"/>
          </a:xfrm>
          <a:prstGeom prst="line">
            <a:avLst/>
          </a:prstGeom>
          <a:noFill/>
          <a:ln w="12700">
            <a:solidFill>
              <a:srgbClr val="065A82"/>
            </a:solidFill>
            <a:prstDash val="solid"/>
          </a:ln>
        </p:spPr>
      </p:sp>
      <p:sp>
        <p:nvSpPr>
          <p:cNvPr id="57" name="Text 55"/>
          <p:cNvSpPr txBox="1"/>
          <p:nvPr/>
        </p:nvSpPr>
        <p:spPr>
          <a:xfrm>
            <a:off x="6419088" y="3236976"/>
            <a:ext cx="5074920" cy="310896"/>
          </a:xfrm>
          <a:prstGeom prst="rect">
            <a:avLst/>
          </a:prstGeom>
          <a:noFill/>
          <a:ln/>
        </p:spPr>
        <p:txBody>
          <a:bodyPr wrap="square" lIns="0" tIns="0" rIns="0" bIns="0" rtlCol="0" anchor="t"/>
          <a:lstStyle/>
          <a:p>
            <a:pPr indent="0" marL="0">
              <a:buNone/>
            </a:pPr>
            <a:r>
              <a:rPr lang="en-US" sz="1050" i="1" dirty="0">
                <a:solidFill>
                  <a:srgbClr val="5A6472"/>
                </a:solidFill>
                <a:latin typeface="Calibri" pitchFamily="34" charset="0"/>
                <a:ea typeface="Calibri" pitchFamily="34" charset="-122"/>
                <a:cs typeface="Calibri" pitchFamily="34" charset="-120"/>
              </a:rPr>
              <a:t>the segment stops, bows out, and waits until it gets past the obstacle</a:t>
            </a:r>
            <a:endParaRPr lang="en-US" sz="1050" dirty="0"/>
          </a:p>
        </p:txBody>
      </p:sp>
      <p:sp>
        <p:nvSpPr>
          <p:cNvPr id="58" name="Shape 56"/>
          <p:cNvSpPr/>
          <p:nvPr/>
        </p:nvSpPr>
        <p:spPr>
          <a:xfrm>
            <a:off x="457200" y="3858768"/>
            <a:ext cx="5532120" cy="2670048"/>
          </a:xfrm>
          <a:prstGeom prst="roundRect">
            <a:avLst>
              <a:gd name="adj" fmla="val 2055"/>
            </a:avLst>
          </a:prstGeom>
          <a:solidFill>
            <a:srgbClr val="FFFFFF"/>
          </a:solidFill>
          <a:ln w="12700">
            <a:solidFill>
              <a:srgbClr val="C9D3DC"/>
            </a:solidFill>
            <a:prstDash val="solid"/>
          </a:ln>
          <a:effectLst>
            <a:outerShdw sx="100000" sy="100000" kx="0" ky="0" algn="bl" rotWithShape="0" blurRad="76200" dist="12700" dir="5400000">
              <a:srgbClr val="9AA7B4">
                <a:alpha val="22000"/>
              </a:srgbClr>
            </a:outerShdw>
          </a:effectLst>
        </p:spPr>
      </p:sp>
      <p:sp>
        <p:nvSpPr>
          <p:cNvPr id="59" name="Text 57"/>
          <p:cNvSpPr txBox="1"/>
          <p:nvPr/>
        </p:nvSpPr>
        <p:spPr>
          <a:xfrm>
            <a:off x="676656" y="3950208"/>
            <a:ext cx="5166360" cy="292608"/>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(c)   </a:t>
            </a:r>
            <a:pPr indent="0" marL="0">
              <a:buNone/>
            </a:pPr>
            <a:r>
              <a:rPr lang="en-US" sz="1400" dirty="0">
                <a:solidFill>
                  <a:srgbClr val="21295C"/>
                </a:solidFill>
                <a:latin typeface="Cambria" pitchFamily="34" charset="0"/>
                <a:ea typeface="Cambria" pitchFamily="34" charset="-122"/>
                <a:cs typeface="Cambria" pitchFamily="34" charset="-120"/>
              </a:rPr>
              <a:t>The structure that stores dislocations</a:t>
            </a:r>
            <a:endParaRPr lang="en-US" sz="1400" dirty="0"/>
          </a:p>
        </p:txBody>
      </p:sp>
      <p:sp>
        <p:nvSpPr>
          <p:cNvPr id="60" name="Shape 58"/>
          <p:cNvSpPr/>
          <p:nvPr/>
        </p:nvSpPr>
        <p:spPr>
          <a:xfrm>
            <a:off x="749808" y="4443984"/>
            <a:ext cx="1874520" cy="1572768"/>
          </a:xfrm>
          <a:prstGeom prst="hexagon">
            <a:avLst/>
          </a:prstGeom>
          <a:solidFill>
            <a:srgbClr val="EEF2F6"/>
          </a:solidFill>
          <a:ln w="20320">
            <a:solidFill>
              <a:srgbClr val="21295C"/>
            </a:solidFill>
            <a:prstDash val="solid"/>
          </a:ln>
        </p:spPr>
      </p:sp>
      <p:sp>
        <p:nvSpPr>
          <p:cNvPr id="61" name="Shape 59"/>
          <p:cNvSpPr/>
          <p:nvPr/>
        </p:nvSpPr>
        <p:spPr>
          <a:xfrm>
            <a:off x="1225296" y="4553712"/>
            <a:ext cx="274320" cy="1353312"/>
          </a:xfrm>
          <a:prstGeom prst="line">
            <a:avLst/>
          </a:prstGeom>
          <a:noFill/>
          <a:ln w="13970">
            <a:solidFill>
              <a:srgbClr val="065A82"/>
            </a:solidFill>
            <a:prstDash val="solid"/>
          </a:ln>
        </p:spPr>
      </p:sp>
      <p:sp>
        <p:nvSpPr>
          <p:cNvPr id="62" name="Shape 60"/>
          <p:cNvSpPr/>
          <p:nvPr/>
        </p:nvSpPr>
        <p:spPr>
          <a:xfrm>
            <a:off x="1755648" y="4498848"/>
            <a:ext cx="310896" cy="1463040"/>
          </a:xfrm>
          <a:prstGeom prst="line">
            <a:avLst/>
          </a:prstGeom>
          <a:noFill/>
          <a:ln w="13970">
            <a:solidFill>
              <a:srgbClr val="065A82"/>
            </a:solidFill>
            <a:prstDash val="solid"/>
          </a:ln>
        </p:spPr>
      </p:sp>
      <p:sp>
        <p:nvSpPr>
          <p:cNvPr id="63" name="Shape 61"/>
          <p:cNvSpPr/>
          <p:nvPr/>
        </p:nvSpPr>
        <p:spPr>
          <a:xfrm>
            <a:off x="2212848" y="4626864"/>
            <a:ext cx="201168" cy="1207008"/>
          </a:xfrm>
          <a:prstGeom prst="line">
            <a:avLst/>
          </a:prstGeom>
          <a:noFill/>
          <a:ln w="13970">
            <a:solidFill>
              <a:srgbClr val="065A82"/>
            </a:solidFill>
            <a:prstDash val="solid"/>
          </a:ln>
        </p:spPr>
      </p:sp>
      <p:sp>
        <p:nvSpPr>
          <p:cNvPr id="64" name="Shape 62"/>
          <p:cNvSpPr/>
          <p:nvPr/>
        </p:nvSpPr>
        <p:spPr>
          <a:xfrm>
            <a:off x="969264" y="4937760"/>
            <a:ext cx="1554480" cy="91440"/>
          </a:xfrm>
          <a:prstGeom prst="line">
            <a:avLst/>
          </a:prstGeom>
          <a:noFill/>
          <a:ln w="13970">
            <a:solidFill>
              <a:srgbClr val="065A82"/>
            </a:solidFill>
            <a:prstDash val="sysDot"/>
          </a:ln>
        </p:spPr>
      </p:sp>
      <p:sp>
        <p:nvSpPr>
          <p:cNvPr id="65" name="Shape 63"/>
          <p:cNvSpPr/>
          <p:nvPr/>
        </p:nvSpPr>
        <p:spPr>
          <a:xfrm>
            <a:off x="932688" y="5394960"/>
            <a:ext cx="1627632" cy="73152"/>
          </a:xfrm>
          <a:prstGeom prst="line">
            <a:avLst/>
          </a:prstGeom>
          <a:noFill/>
          <a:ln w="13970">
            <a:solidFill>
              <a:srgbClr val="065A82"/>
            </a:solidFill>
            <a:prstDash val="sysDot"/>
          </a:ln>
        </p:spPr>
      </p:sp>
      <p:sp>
        <p:nvSpPr>
          <p:cNvPr id="66" name="Text 64"/>
          <p:cNvSpPr txBox="1"/>
          <p:nvPr/>
        </p:nvSpPr>
        <p:spPr>
          <a:xfrm>
            <a:off x="786384" y="6016752"/>
            <a:ext cx="914400" cy="219456"/>
          </a:xfrm>
          <a:prstGeom prst="rect">
            <a:avLst/>
          </a:prstGeom>
          <a:noFill/>
          <a:ln/>
        </p:spPr>
        <p:txBody>
          <a:bodyPr wrap="square" lIns="0" tIns="0" rIns="0" bIns="0" rtlCol="0" anchor="ctr"/>
          <a:lstStyle/>
          <a:p>
            <a:pPr algn="ctr" indent="0" marL="0">
              <a:buNone/>
            </a:pPr>
            <a:r>
              <a:rPr lang="en-US" sz="1000" dirty="0">
                <a:solidFill>
                  <a:srgbClr val="21295C"/>
                </a:solidFill>
                <a:latin typeface="Calibri" pitchFamily="34" charset="0"/>
                <a:ea typeface="Calibri" pitchFamily="34" charset="-122"/>
                <a:cs typeface="Calibri" pitchFamily="34" charset="-120"/>
              </a:rPr>
              <a:t>grain</a:t>
            </a:r>
            <a:endParaRPr lang="en-US" sz="1000" dirty="0"/>
          </a:p>
        </p:txBody>
      </p:sp>
      <p:sp>
        <p:nvSpPr>
          <p:cNvPr id="67" name="Text 65"/>
          <p:cNvSpPr txBox="1"/>
          <p:nvPr/>
        </p:nvSpPr>
        <p:spPr>
          <a:xfrm>
            <a:off x="1700784" y="5998464"/>
            <a:ext cx="1554480" cy="384048"/>
          </a:xfrm>
          <a:prstGeom prst="rect">
            <a:avLst/>
          </a:prstGeom>
          <a:noFill/>
          <a:ln/>
        </p:spPr>
        <p:txBody>
          <a:bodyPr wrap="square" lIns="0" tIns="0" rIns="0" bIns="0" rtlCol="0" anchor="t"/>
          <a:lstStyle/>
          <a:p>
            <a:pPr algn="ctr" indent="0" marL="0">
              <a:buNone/>
            </a:pPr>
            <a:r>
              <a:rPr lang="en-US" sz="1000" dirty="0">
                <a:solidFill>
                  <a:srgbClr val="065A82"/>
                </a:solidFill>
                <a:latin typeface="Calibri" pitchFamily="34" charset="0"/>
                <a:ea typeface="Calibri" pitchFamily="34" charset="-122"/>
                <a:cs typeface="Calibri" pitchFamily="34" charset="-120"/>
              </a:rPr>
              <a:t>sub-boundaries</a:t>
            </a:r>
            <a:endParaRPr lang="en-US" sz="1000" dirty="0"/>
          </a:p>
          <a:p>
            <a:pPr algn="ctr" indent="0" marL="0">
              <a:buNone/>
            </a:pPr>
            <a:r>
              <a:rPr lang="en-US" sz="1000" dirty="0">
                <a:solidFill>
                  <a:srgbClr val="065A82"/>
                </a:solidFill>
                <a:latin typeface="Calibri" pitchFamily="34" charset="0"/>
                <a:ea typeface="Calibri" pitchFamily="34" charset="-122"/>
                <a:cs typeface="Calibri" pitchFamily="34" charset="-120"/>
              </a:rPr>
              <a:t>(sub-grain, lath)</a:t>
            </a:r>
            <a:endParaRPr lang="en-US" sz="1000" dirty="0"/>
          </a:p>
        </p:txBody>
      </p:sp>
      <p:sp>
        <p:nvSpPr>
          <p:cNvPr id="68" name="Shape 66"/>
          <p:cNvSpPr/>
          <p:nvPr/>
        </p:nvSpPr>
        <p:spPr>
          <a:xfrm>
            <a:off x="2633472" y="4572000"/>
            <a:ext cx="566928" cy="-256032"/>
          </a:xfrm>
          <a:prstGeom prst="line">
            <a:avLst/>
          </a:prstGeom>
          <a:noFill/>
          <a:ln w="12700">
            <a:solidFill>
              <a:srgbClr val="9AA7B4"/>
            </a:solidFill>
            <a:prstDash val="dash"/>
          </a:ln>
        </p:spPr>
      </p:sp>
      <p:sp>
        <p:nvSpPr>
          <p:cNvPr id="69" name="Shape 67"/>
          <p:cNvSpPr/>
          <p:nvPr/>
        </p:nvSpPr>
        <p:spPr>
          <a:xfrm>
            <a:off x="2633472" y="5797296"/>
            <a:ext cx="566928" cy="91440"/>
          </a:xfrm>
          <a:prstGeom prst="line">
            <a:avLst/>
          </a:prstGeom>
          <a:noFill/>
          <a:ln w="12700">
            <a:solidFill>
              <a:srgbClr val="9AA7B4"/>
            </a:solidFill>
            <a:prstDash val="dash"/>
          </a:ln>
        </p:spPr>
      </p:sp>
      <p:sp>
        <p:nvSpPr>
          <p:cNvPr id="70" name="Shape 68"/>
          <p:cNvSpPr/>
          <p:nvPr/>
        </p:nvSpPr>
        <p:spPr>
          <a:xfrm>
            <a:off x="3236976" y="4315968"/>
            <a:ext cx="2395728" cy="1572768"/>
          </a:xfrm>
          <a:prstGeom prst="rect">
            <a:avLst/>
          </a:prstGeom>
          <a:solidFill>
            <a:srgbClr val="FFFFFF"/>
          </a:solidFill>
          <a:ln w="15240">
            <a:solidFill>
              <a:srgbClr val="5A6472"/>
            </a:solidFill>
            <a:prstDash val="solid"/>
          </a:ln>
        </p:spPr>
      </p:sp>
      <p:sp>
        <p:nvSpPr>
          <p:cNvPr id="71" name="Shape 69"/>
          <p:cNvSpPr/>
          <p:nvPr/>
        </p:nvSpPr>
        <p:spPr>
          <a:xfrm>
            <a:off x="3236976" y="4315968"/>
            <a:ext cx="237744" cy="-219456"/>
          </a:xfrm>
          <a:prstGeom prst="line">
            <a:avLst/>
          </a:prstGeom>
          <a:noFill/>
          <a:ln w="12700">
            <a:solidFill>
              <a:srgbClr val="5A6472"/>
            </a:solidFill>
            <a:prstDash val="solid"/>
          </a:ln>
        </p:spPr>
      </p:sp>
      <p:sp>
        <p:nvSpPr>
          <p:cNvPr id="72" name="Shape 70"/>
          <p:cNvSpPr/>
          <p:nvPr/>
        </p:nvSpPr>
        <p:spPr>
          <a:xfrm>
            <a:off x="5632704" y="4315968"/>
            <a:ext cx="237744" cy="-219456"/>
          </a:xfrm>
          <a:prstGeom prst="line">
            <a:avLst/>
          </a:prstGeom>
          <a:noFill/>
          <a:ln w="12700">
            <a:solidFill>
              <a:srgbClr val="5A6472"/>
            </a:solidFill>
            <a:prstDash val="solid"/>
          </a:ln>
        </p:spPr>
      </p:sp>
      <p:sp>
        <p:nvSpPr>
          <p:cNvPr id="73" name="Shape 71"/>
          <p:cNvSpPr/>
          <p:nvPr/>
        </p:nvSpPr>
        <p:spPr>
          <a:xfrm>
            <a:off x="3474720" y="4096512"/>
            <a:ext cx="2395728" cy="0"/>
          </a:xfrm>
          <a:prstGeom prst="line">
            <a:avLst/>
          </a:prstGeom>
          <a:noFill/>
          <a:ln w="12700">
            <a:solidFill>
              <a:srgbClr val="5A6472"/>
            </a:solidFill>
            <a:prstDash val="solid"/>
          </a:ln>
        </p:spPr>
      </p:sp>
      <p:sp>
        <p:nvSpPr>
          <p:cNvPr id="74" name="Shape 72"/>
          <p:cNvSpPr/>
          <p:nvPr/>
        </p:nvSpPr>
        <p:spPr>
          <a:xfrm>
            <a:off x="5870448" y="4096512"/>
            <a:ext cx="0" cy="1572768"/>
          </a:xfrm>
          <a:prstGeom prst="line">
            <a:avLst/>
          </a:prstGeom>
          <a:noFill/>
          <a:ln w="12700">
            <a:solidFill>
              <a:srgbClr val="5A6472"/>
            </a:solidFill>
            <a:prstDash val="solid"/>
          </a:ln>
        </p:spPr>
      </p:sp>
      <p:sp>
        <p:nvSpPr>
          <p:cNvPr id="75" name="Shape 73"/>
          <p:cNvSpPr/>
          <p:nvPr/>
        </p:nvSpPr>
        <p:spPr>
          <a:xfrm>
            <a:off x="5632704" y="5888736"/>
            <a:ext cx="237744" cy="-219456"/>
          </a:xfrm>
          <a:prstGeom prst="line">
            <a:avLst/>
          </a:prstGeom>
          <a:noFill/>
          <a:ln w="12700">
            <a:solidFill>
              <a:srgbClr val="5A6472"/>
            </a:solidFill>
            <a:prstDash val="solid"/>
          </a:ln>
        </p:spPr>
      </p:sp>
      <p:sp>
        <p:nvSpPr>
          <p:cNvPr id="76" name="Shape 74"/>
          <p:cNvSpPr/>
          <p:nvPr/>
        </p:nvSpPr>
        <p:spPr>
          <a:xfrm>
            <a:off x="3401568" y="4590288"/>
            <a:ext cx="676656" cy="274320"/>
          </a:xfrm>
          <a:prstGeom prst="line">
            <a:avLst/>
          </a:prstGeom>
          <a:noFill/>
          <a:ln w="22860">
            <a:solidFill>
              <a:srgbClr val="1C7293"/>
            </a:solidFill>
            <a:prstDash val="solid"/>
          </a:ln>
        </p:spPr>
      </p:sp>
      <p:sp>
        <p:nvSpPr>
          <p:cNvPr id="77" name="Shape 75"/>
          <p:cNvSpPr/>
          <p:nvPr/>
        </p:nvSpPr>
        <p:spPr>
          <a:xfrm>
            <a:off x="4078224" y="4864608"/>
            <a:ext cx="548640" cy="-201168"/>
          </a:xfrm>
          <a:prstGeom prst="line">
            <a:avLst/>
          </a:prstGeom>
          <a:noFill/>
          <a:ln w="22860">
            <a:solidFill>
              <a:srgbClr val="1C7293"/>
            </a:solidFill>
            <a:prstDash val="solid"/>
          </a:ln>
        </p:spPr>
      </p:sp>
      <p:sp>
        <p:nvSpPr>
          <p:cNvPr id="78" name="Shape 76"/>
          <p:cNvSpPr/>
          <p:nvPr/>
        </p:nvSpPr>
        <p:spPr>
          <a:xfrm>
            <a:off x="3474720" y="5358384"/>
            <a:ext cx="603504" cy="-219456"/>
          </a:xfrm>
          <a:prstGeom prst="line">
            <a:avLst/>
          </a:prstGeom>
          <a:noFill/>
          <a:ln w="22860">
            <a:solidFill>
              <a:srgbClr val="1C7293"/>
            </a:solidFill>
            <a:prstDash val="solid"/>
          </a:ln>
        </p:spPr>
      </p:sp>
      <p:sp>
        <p:nvSpPr>
          <p:cNvPr id="79" name="Shape 77"/>
          <p:cNvSpPr/>
          <p:nvPr/>
        </p:nvSpPr>
        <p:spPr>
          <a:xfrm>
            <a:off x="4224528" y="5504688"/>
            <a:ext cx="658368" cy="201168"/>
          </a:xfrm>
          <a:prstGeom prst="line">
            <a:avLst/>
          </a:prstGeom>
          <a:noFill/>
          <a:ln w="22860">
            <a:solidFill>
              <a:srgbClr val="1C7293"/>
            </a:solidFill>
            <a:prstDash val="solid"/>
          </a:ln>
        </p:spPr>
      </p:sp>
      <p:sp>
        <p:nvSpPr>
          <p:cNvPr id="80" name="Shape 78"/>
          <p:cNvSpPr/>
          <p:nvPr/>
        </p:nvSpPr>
        <p:spPr>
          <a:xfrm>
            <a:off x="4791456" y="4663440"/>
            <a:ext cx="512064" cy="310896"/>
          </a:xfrm>
          <a:prstGeom prst="line">
            <a:avLst/>
          </a:prstGeom>
          <a:noFill/>
          <a:ln w="22860">
            <a:solidFill>
              <a:srgbClr val="1C7293"/>
            </a:solidFill>
            <a:prstDash val="solid"/>
          </a:ln>
        </p:spPr>
      </p:sp>
      <p:sp>
        <p:nvSpPr>
          <p:cNvPr id="81" name="Shape 79"/>
          <p:cNvSpPr/>
          <p:nvPr/>
        </p:nvSpPr>
        <p:spPr>
          <a:xfrm>
            <a:off x="3840480" y="5138928"/>
            <a:ext cx="182880" cy="182880"/>
          </a:xfrm>
          <a:prstGeom prst="ellipse">
            <a:avLst/>
          </a:prstGeom>
          <a:solidFill>
            <a:srgbClr val="B85042"/>
          </a:solidFill>
          <a:ln w="12700">
            <a:solidFill>
              <a:srgbClr val="B85042"/>
            </a:solidFill>
            <a:prstDash val="solid"/>
          </a:ln>
        </p:spPr>
      </p:sp>
      <p:sp>
        <p:nvSpPr>
          <p:cNvPr id="82" name="Shape 80"/>
          <p:cNvSpPr/>
          <p:nvPr/>
        </p:nvSpPr>
        <p:spPr>
          <a:xfrm>
            <a:off x="4809744" y="5047488"/>
            <a:ext cx="182880" cy="182880"/>
          </a:xfrm>
          <a:prstGeom prst="ellipse">
            <a:avLst/>
          </a:prstGeom>
          <a:solidFill>
            <a:srgbClr val="B85042"/>
          </a:solidFill>
          <a:ln w="12700">
            <a:solidFill>
              <a:srgbClr val="B85042"/>
            </a:solidFill>
            <a:prstDash val="solid"/>
          </a:ln>
        </p:spPr>
      </p:sp>
      <p:sp>
        <p:nvSpPr>
          <p:cNvPr id="83" name="Shape 81"/>
          <p:cNvSpPr/>
          <p:nvPr/>
        </p:nvSpPr>
        <p:spPr>
          <a:xfrm>
            <a:off x="3511296" y="5577840"/>
            <a:ext cx="182880" cy="182880"/>
          </a:xfrm>
          <a:prstGeom prst="ellipse">
            <a:avLst/>
          </a:prstGeom>
          <a:solidFill>
            <a:srgbClr val="B85042"/>
          </a:solidFill>
          <a:ln w="12700">
            <a:solidFill>
              <a:srgbClr val="B85042"/>
            </a:solidFill>
            <a:prstDash val="solid"/>
          </a:ln>
        </p:spPr>
      </p:sp>
      <p:sp>
        <p:nvSpPr>
          <p:cNvPr id="84" name="Shape 82"/>
          <p:cNvSpPr/>
          <p:nvPr/>
        </p:nvSpPr>
        <p:spPr>
          <a:xfrm>
            <a:off x="5102352" y="5468112"/>
            <a:ext cx="182880" cy="182880"/>
          </a:xfrm>
          <a:prstGeom prst="ellipse">
            <a:avLst/>
          </a:prstGeom>
          <a:solidFill>
            <a:srgbClr val="B85042"/>
          </a:solidFill>
          <a:ln w="12700">
            <a:solidFill>
              <a:srgbClr val="B85042"/>
            </a:solidFill>
            <a:prstDash val="solid"/>
          </a:ln>
        </p:spPr>
      </p:sp>
      <p:sp>
        <p:nvSpPr>
          <p:cNvPr id="85" name="Shape 83"/>
          <p:cNvSpPr/>
          <p:nvPr/>
        </p:nvSpPr>
        <p:spPr>
          <a:xfrm>
            <a:off x="4361688" y="4581144"/>
            <a:ext cx="91440" cy="91440"/>
          </a:xfrm>
          <a:prstGeom prst="ellipse">
            <a:avLst/>
          </a:prstGeom>
          <a:solidFill>
            <a:srgbClr val="C98A16"/>
          </a:solidFill>
          <a:ln w="12700">
            <a:solidFill>
              <a:srgbClr val="C98A16"/>
            </a:solidFill>
            <a:prstDash val="solid"/>
          </a:ln>
        </p:spPr>
      </p:sp>
      <p:sp>
        <p:nvSpPr>
          <p:cNvPr id="86" name="Shape 84"/>
          <p:cNvSpPr/>
          <p:nvPr/>
        </p:nvSpPr>
        <p:spPr>
          <a:xfrm>
            <a:off x="4544568" y="5294376"/>
            <a:ext cx="91440" cy="91440"/>
          </a:xfrm>
          <a:prstGeom prst="ellipse">
            <a:avLst/>
          </a:prstGeom>
          <a:solidFill>
            <a:srgbClr val="C98A16"/>
          </a:solidFill>
          <a:ln w="12700">
            <a:solidFill>
              <a:srgbClr val="C98A16"/>
            </a:solidFill>
            <a:prstDash val="solid"/>
          </a:ln>
        </p:spPr>
      </p:sp>
      <p:sp>
        <p:nvSpPr>
          <p:cNvPr id="87" name="Shape 85"/>
          <p:cNvSpPr/>
          <p:nvPr/>
        </p:nvSpPr>
        <p:spPr>
          <a:xfrm>
            <a:off x="3758184" y="4837176"/>
            <a:ext cx="91440" cy="91440"/>
          </a:xfrm>
          <a:prstGeom prst="ellipse">
            <a:avLst/>
          </a:prstGeom>
          <a:solidFill>
            <a:srgbClr val="C98A16"/>
          </a:solidFill>
          <a:ln w="12700">
            <a:solidFill>
              <a:srgbClr val="C98A16"/>
            </a:solidFill>
            <a:prstDash val="solid"/>
          </a:ln>
        </p:spPr>
      </p:sp>
      <p:sp>
        <p:nvSpPr>
          <p:cNvPr id="88" name="Shape 86"/>
          <p:cNvSpPr/>
          <p:nvPr/>
        </p:nvSpPr>
        <p:spPr>
          <a:xfrm>
            <a:off x="5074920" y="4818888"/>
            <a:ext cx="91440" cy="91440"/>
          </a:xfrm>
          <a:prstGeom prst="ellipse">
            <a:avLst/>
          </a:prstGeom>
          <a:solidFill>
            <a:srgbClr val="C98A16"/>
          </a:solidFill>
          <a:ln w="12700">
            <a:solidFill>
              <a:srgbClr val="C98A16"/>
            </a:solidFill>
            <a:prstDash val="solid"/>
          </a:ln>
        </p:spPr>
      </p:sp>
      <p:sp>
        <p:nvSpPr>
          <p:cNvPr id="89" name="Shape 87"/>
          <p:cNvSpPr/>
          <p:nvPr/>
        </p:nvSpPr>
        <p:spPr>
          <a:xfrm>
            <a:off x="4142232" y="5678424"/>
            <a:ext cx="91440" cy="91440"/>
          </a:xfrm>
          <a:prstGeom prst="ellipse">
            <a:avLst/>
          </a:prstGeom>
          <a:solidFill>
            <a:srgbClr val="C98A16"/>
          </a:solidFill>
          <a:ln w="12700">
            <a:solidFill>
              <a:srgbClr val="C98A16"/>
            </a:solidFill>
            <a:prstDash val="solid"/>
          </a:ln>
        </p:spPr>
      </p:sp>
      <p:sp>
        <p:nvSpPr>
          <p:cNvPr id="90" name="Text 88"/>
          <p:cNvSpPr txBox="1"/>
          <p:nvPr/>
        </p:nvSpPr>
        <p:spPr>
          <a:xfrm>
            <a:off x="3291840" y="5943600"/>
            <a:ext cx="1097280" cy="219456"/>
          </a:xfrm>
          <a:prstGeom prst="rect">
            <a:avLst/>
          </a:prstGeom>
          <a:noFill/>
          <a:ln/>
        </p:spPr>
        <p:txBody>
          <a:bodyPr wrap="square" lIns="0" tIns="0" rIns="0" bIns="0" rtlCol="0" anchor="ctr"/>
          <a:lstStyle/>
          <a:p>
            <a:pPr indent="0" marL="0">
              <a:buNone/>
            </a:pPr>
            <a:r>
              <a:rPr lang="en-US" sz="950" dirty="0">
                <a:solidFill>
                  <a:srgbClr val="1C7293"/>
                </a:solidFill>
                <a:latin typeface="Calibri" pitchFamily="34" charset="0"/>
                <a:ea typeface="Calibri" pitchFamily="34" charset="-122"/>
                <a:cs typeface="Calibri" pitchFamily="34" charset="-120"/>
              </a:rPr>
              <a:t>dislocations</a:t>
            </a:r>
            <a:endParaRPr lang="en-US" sz="950" dirty="0"/>
          </a:p>
        </p:txBody>
      </p:sp>
      <p:sp>
        <p:nvSpPr>
          <p:cNvPr id="91" name="Text 89"/>
          <p:cNvSpPr txBox="1"/>
          <p:nvPr/>
        </p:nvSpPr>
        <p:spPr>
          <a:xfrm>
            <a:off x="4224528" y="5943600"/>
            <a:ext cx="1554480" cy="219456"/>
          </a:xfrm>
          <a:prstGeom prst="rect">
            <a:avLst/>
          </a:prstGeom>
          <a:noFill/>
          <a:ln/>
        </p:spPr>
        <p:txBody>
          <a:bodyPr wrap="square" lIns="0" tIns="0" rIns="0" bIns="0" rtlCol="0" anchor="ctr"/>
          <a:lstStyle/>
          <a:p>
            <a:pPr algn="r" indent="0" marL="0">
              <a:buNone/>
            </a:pPr>
            <a:r>
              <a:rPr lang="en-US" sz="950" dirty="0">
                <a:solidFill>
                  <a:srgbClr val="B85042"/>
                </a:solidFill>
                <a:latin typeface="Calibri" pitchFamily="34" charset="0"/>
                <a:ea typeface="Calibri" pitchFamily="34" charset="-122"/>
                <a:cs typeface="Calibri" pitchFamily="34" charset="-120"/>
              </a:rPr>
              <a:t>coarse and fine particles</a:t>
            </a:r>
            <a:endParaRPr lang="en-US" sz="950" dirty="0"/>
          </a:p>
        </p:txBody>
      </p:sp>
      <p:sp>
        <p:nvSpPr>
          <p:cNvPr id="92" name="Shape 90"/>
          <p:cNvSpPr/>
          <p:nvPr/>
        </p:nvSpPr>
        <p:spPr>
          <a:xfrm>
            <a:off x="6199632" y="3858768"/>
            <a:ext cx="5532120" cy="2670048"/>
          </a:xfrm>
          <a:prstGeom prst="roundRect">
            <a:avLst>
              <a:gd name="adj" fmla="val 2055"/>
            </a:avLst>
          </a:prstGeom>
          <a:solidFill>
            <a:srgbClr val="FFFFFF"/>
          </a:solidFill>
          <a:ln w="12700">
            <a:solidFill>
              <a:srgbClr val="C9D3DC"/>
            </a:solidFill>
            <a:prstDash val="solid"/>
          </a:ln>
          <a:effectLst>
            <a:outerShdw sx="100000" sy="100000" kx="0" ky="0" algn="bl" rotWithShape="0" blurRad="76200" dist="12700" dir="5400000">
              <a:srgbClr val="9AA7B4">
                <a:alpha val="22000"/>
              </a:srgbClr>
            </a:outerShdw>
          </a:effectLst>
        </p:spPr>
      </p:sp>
      <p:sp>
        <p:nvSpPr>
          <p:cNvPr id="93" name="Text 91"/>
          <p:cNvSpPr txBox="1"/>
          <p:nvPr/>
        </p:nvSpPr>
        <p:spPr>
          <a:xfrm>
            <a:off x="6419088" y="3950208"/>
            <a:ext cx="5166360" cy="292608"/>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(d)   </a:t>
            </a:r>
            <a:pPr indent="0" marL="0">
              <a:buNone/>
            </a:pPr>
            <a:r>
              <a:rPr lang="en-US" sz="1400" dirty="0">
                <a:solidFill>
                  <a:srgbClr val="21295C"/>
                </a:solidFill>
                <a:latin typeface="Cambria" pitchFamily="34" charset="0"/>
                <a:ea typeface="Cambria" pitchFamily="34" charset="-122"/>
                <a:cs typeface="Cambria" pitchFamily="34" charset="-120"/>
              </a:rPr>
              <a:t>Obstacle spacing sets the strength</a:t>
            </a:r>
            <a:endParaRPr lang="en-US" sz="1400" dirty="0"/>
          </a:p>
        </p:txBody>
      </p:sp>
      <p:sp>
        <p:nvSpPr>
          <p:cNvPr id="94" name="Shape 92"/>
          <p:cNvSpPr/>
          <p:nvPr/>
        </p:nvSpPr>
        <p:spPr>
          <a:xfrm>
            <a:off x="6492240" y="5175504"/>
            <a:ext cx="4956048" cy="0"/>
          </a:xfrm>
          <a:prstGeom prst="line">
            <a:avLst/>
          </a:prstGeom>
          <a:noFill/>
          <a:ln w="33020">
            <a:solidFill>
              <a:srgbClr val="1C7293"/>
            </a:solidFill>
            <a:prstDash val="solid"/>
          </a:ln>
        </p:spPr>
      </p:sp>
      <p:sp>
        <p:nvSpPr>
          <p:cNvPr id="95" name="Shape 93"/>
          <p:cNvSpPr/>
          <p:nvPr/>
        </p:nvSpPr>
        <p:spPr>
          <a:xfrm>
            <a:off x="7214616" y="4983480"/>
            <a:ext cx="384048" cy="384048"/>
          </a:xfrm>
          <a:prstGeom prst="ellipse">
            <a:avLst/>
          </a:prstGeom>
          <a:solidFill>
            <a:srgbClr val="B85042"/>
          </a:solidFill>
          <a:ln w="12700">
            <a:solidFill>
              <a:srgbClr val="B85042"/>
            </a:solidFill>
            <a:prstDash val="solid"/>
          </a:ln>
        </p:spPr>
      </p:sp>
      <p:sp>
        <p:nvSpPr>
          <p:cNvPr id="96" name="Shape 94"/>
          <p:cNvSpPr/>
          <p:nvPr/>
        </p:nvSpPr>
        <p:spPr>
          <a:xfrm>
            <a:off x="8823960" y="4983480"/>
            <a:ext cx="384048" cy="384048"/>
          </a:xfrm>
          <a:prstGeom prst="ellipse">
            <a:avLst/>
          </a:prstGeom>
          <a:solidFill>
            <a:srgbClr val="B85042"/>
          </a:solidFill>
          <a:ln w="12700">
            <a:solidFill>
              <a:srgbClr val="B85042"/>
            </a:solidFill>
            <a:prstDash val="solid"/>
          </a:ln>
        </p:spPr>
      </p:sp>
      <p:sp>
        <p:nvSpPr>
          <p:cNvPr id="97" name="Shape 95"/>
          <p:cNvSpPr/>
          <p:nvPr/>
        </p:nvSpPr>
        <p:spPr>
          <a:xfrm>
            <a:off x="10652760" y="4983480"/>
            <a:ext cx="384048" cy="384048"/>
          </a:xfrm>
          <a:prstGeom prst="ellipse">
            <a:avLst/>
          </a:prstGeom>
          <a:solidFill>
            <a:srgbClr val="B85042"/>
          </a:solidFill>
          <a:ln w="12700">
            <a:solidFill>
              <a:srgbClr val="B85042"/>
            </a:solidFill>
            <a:prstDash val="solid"/>
          </a:ln>
        </p:spPr>
      </p:sp>
      <p:sp>
        <p:nvSpPr>
          <p:cNvPr id="98" name="Shape 96"/>
          <p:cNvSpPr/>
          <p:nvPr/>
        </p:nvSpPr>
        <p:spPr>
          <a:xfrm>
            <a:off x="9674352" y="4407408"/>
            <a:ext cx="219456" cy="219456"/>
          </a:xfrm>
          <a:prstGeom prst="ellipse">
            <a:avLst/>
          </a:prstGeom>
          <a:solidFill>
            <a:srgbClr val="B85042"/>
          </a:solidFill>
          <a:ln w="12700">
            <a:solidFill>
              <a:srgbClr val="B85042"/>
            </a:solidFill>
            <a:prstDash val="solid"/>
          </a:ln>
        </p:spPr>
      </p:sp>
      <p:sp>
        <p:nvSpPr>
          <p:cNvPr id="99" name="Shape 97"/>
          <p:cNvSpPr/>
          <p:nvPr/>
        </p:nvSpPr>
        <p:spPr>
          <a:xfrm>
            <a:off x="8119872" y="5742432"/>
            <a:ext cx="219456" cy="219456"/>
          </a:xfrm>
          <a:prstGeom prst="ellipse">
            <a:avLst/>
          </a:prstGeom>
          <a:solidFill>
            <a:srgbClr val="B85042"/>
          </a:solidFill>
          <a:ln w="12700">
            <a:solidFill>
              <a:srgbClr val="B85042"/>
            </a:solidFill>
            <a:prstDash val="solid"/>
          </a:ln>
        </p:spPr>
      </p:sp>
      <p:sp>
        <p:nvSpPr>
          <p:cNvPr id="100" name="Shape 98"/>
          <p:cNvSpPr/>
          <p:nvPr/>
        </p:nvSpPr>
        <p:spPr>
          <a:xfrm>
            <a:off x="7406640" y="4626864"/>
            <a:ext cx="1609344" cy="0"/>
          </a:xfrm>
          <a:prstGeom prst="line">
            <a:avLst/>
          </a:prstGeom>
          <a:noFill/>
          <a:ln w="12700">
            <a:solidFill>
              <a:srgbClr val="5A6472"/>
            </a:solidFill>
            <a:prstDash val="solid"/>
            <a:headEnd type="triangle"/>
            <a:tailEnd type="triangle"/>
          </a:ln>
        </p:spPr>
      </p:sp>
      <p:sp>
        <p:nvSpPr>
          <p:cNvPr id="101" name="Shape 99"/>
          <p:cNvSpPr/>
          <p:nvPr/>
        </p:nvSpPr>
        <p:spPr>
          <a:xfrm>
            <a:off x="7406640" y="4535424"/>
            <a:ext cx="0" cy="182880"/>
          </a:xfrm>
          <a:prstGeom prst="line">
            <a:avLst/>
          </a:prstGeom>
          <a:noFill/>
          <a:ln w="10160">
            <a:solidFill>
              <a:srgbClr val="5A6472"/>
            </a:solidFill>
            <a:prstDash val="solid"/>
          </a:ln>
        </p:spPr>
      </p:sp>
      <p:sp>
        <p:nvSpPr>
          <p:cNvPr id="102" name="Shape 100"/>
          <p:cNvSpPr/>
          <p:nvPr/>
        </p:nvSpPr>
        <p:spPr>
          <a:xfrm>
            <a:off x="9015984" y="4535424"/>
            <a:ext cx="0" cy="182880"/>
          </a:xfrm>
          <a:prstGeom prst="line">
            <a:avLst/>
          </a:prstGeom>
          <a:noFill/>
          <a:ln w="10160">
            <a:solidFill>
              <a:srgbClr val="5A6472"/>
            </a:solidFill>
            <a:prstDash val="solid"/>
          </a:ln>
        </p:spPr>
      </p:sp>
      <p:sp>
        <p:nvSpPr>
          <p:cNvPr id="103" name="Text 101"/>
          <p:cNvSpPr txBox="1"/>
          <p:nvPr/>
        </p:nvSpPr>
        <p:spPr>
          <a:xfrm>
            <a:off x="7571232" y="4261104"/>
            <a:ext cx="128016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5A6472"/>
                </a:solidFill>
                <a:latin typeface="Calibri" pitchFamily="34" charset="0"/>
                <a:ea typeface="Calibri" pitchFamily="34" charset="-122"/>
                <a:cs typeface="Calibri" pitchFamily="34" charset="-120"/>
              </a:rPr>
              <a:t>spacing  L</a:t>
            </a:r>
            <a:endParaRPr lang="en-US" sz="1050" dirty="0"/>
          </a:p>
        </p:txBody>
      </p:sp>
      <p:sp>
        <p:nvSpPr>
          <p:cNvPr id="104" name="Shape 102"/>
          <p:cNvSpPr/>
          <p:nvPr/>
        </p:nvSpPr>
        <p:spPr>
          <a:xfrm>
            <a:off x="9015984" y="5797296"/>
            <a:ext cx="1828800" cy="0"/>
          </a:xfrm>
          <a:prstGeom prst="line">
            <a:avLst/>
          </a:prstGeom>
          <a:noFill/>
          <a:ln w="12700">
            <a:solidFill>
              <a:srgbClr val="5A6472"/>
            </a:solidFill>
            <a:prstDash val="solid"/>
            <a:headEnd type="triangle"/>
            <a:tailEnd type="triangle"/>
          </a:ln>
        </p:spPr>
      </p:sp>
      <p:sp>
        <p:nvSpPr>
          <p:cNvPr id="105" name="Shape 103"/>
          <p:cNvSpPr/>
          <p:nvPr/>
        </p:nvSpPr>
        <p:spPr>
          <a:xfrm>
            <a:off x="9015984" y="5705856"/>
            <a:ext cx="0" cy="182880"/>
          </a:xfrm>
          <a:prstGeom prst="line">
            <a:avLst/>
          </a:prstGeom>
          <a:noFill/>
          <a:ln w="10160">
            <a:solidFill>
              <a:srgbClr val="5A6472"/>
            </a:solidFill>
            <a:prstDash val="solid"/>
          </a:ln>
        </p:spPr>
      </p:sp>
      <p:sp>
        <p:nvSpPr>
          <p:cNvPr id="106" name="Shape 104"/>
          <p:cNvSpPr/>
          <p:nvPr/>
        </p:nvSpPr>
        <p:spPr>
          <a:xfrm>
            <a:off x="10844784" y="5705856"/>
            <a:ext cx="0" cy="182880"/>
          </a:xfrm>
          <a:prstGeom prst="line">
            <a:avLst/>
          </a:prstGeom>
          <a:noFill/>
          <a:ln w="10160">
            <a:solidFill>
              <a:srgbClr val="5A6472"/>
            </a:solidFill>
            <a:prstDash val="solid"/>
          </a:ln>
        </p:spPr>
      </p:sp>
      <p:sp>
        <p:nvSpPr>
          <p:cNvPr id="107" name="Text 105"/>
          <p:cNvSpPr txBox="1"/>
          <p:nvPr/>
        </p:nvSpPr>
        <p:spPr>
          <a:xfrm>
            <a:off x="9290304" y="5431536"/>
            <a:ext cx="1280160" cy="237744"/>
          </a:xfrm>
          <a:prstGeom prst="rect">
            <a:avLst/>
          </a:prstGeom>
          <a:solidFill>
            <a:srgbClr val="FFFFFF"/>
          </a:solidFill>
          <a:ln/>
        </p:spPr>
        <p:txBody>
          <a:bodyPr wrap="square" lIns="0" tIns="0" rIns="0" bIns="0" rtlCol="0" anchor="ctr"/>
          <a:lstStyle/>
          <a:p>
            <a:pPr algn="ctr" indent="0" marL="0">
              <a:buNone/>
            </a:pPr>
            <a:r>
              <a:rPr lang="en-US" sz="1050" dirty="0">
                <a:solidFill>
                  <a:srgbClr val="5A6472"/>
                </a:solidFill>
                <a:latin typeface="Calibri" pitchFamily="34" charset="0"/>
                <a:ea typeface="Calibri" pitchFamily="34" charset="-122"/>
                <a:cs typeface="Calibri" pitchFamily="34" charset="-120"/>
              </a:rPr>
              <a:t>spacing  L′</a:t>
            </a:r>
            <a:endParaRPr lang="en-US" sz="1050" dirty="0"/>
          </a:p>
        </p:txBody>
      </p:sp>
      <p:sp>
        <p:nvSpPr>
          <p:cNvPr id="108" name="Shape 106"/>
          <p:cNvSpPr/>
          <p:nvPr/>
        </p:nvSpPr>
        <p:spPr>
          <a:xfrm>
            <a:off x="10844784" y="5175504"/>
            <a:ext cx="192024" cy="0"/>
          </a:xfrm>
          <a:prstGeom prst="line">
            <a:avLst/>
          </a:prstGeom>
          <a:noFill/>
          <a:ln w="15240">
            <a:solidFill>
              <a:srgbClr val="21295C"/>
            </a:solidFill>
            <a:prstDash val="solid"/>
            <a:tailEnd type="triangle"/>
          </a:ln>
        </p:spPr>
      </p:sp>
      <p:sp>
        <p:nvSpPr>
          <p:cNvPr id="109" name="Text 107"/>
          <p:cNvSpPr txBox="1"/>
          <p:nvPr/>
        </p:nvSpPr>
        <p:spPr>
          <a:xfrm>
            <a:off x="10533888" y="4773168"/>
            <a:ext cx="1005840" cy="219456"/>
          </a:xfrm>
          <a:prstGeom prst="rect">
            <a:avLst/>
          </a:prstGeom>
          <a:solidFill>
            <a:srgbClr val="FFFFFF"/>
          </a:solidFill>
          <a:ln/>
        </p:spPr>
        <p:txBody>
          <a:bodyPr wrap="square" lIns="0" tIns="0" rIns="0" bIns="0" rtlCol="0" anchor="ctr"/>
          <a:lstStyle/>
          <a:p>
            <a:pPr algn="ctr" indent="0" marL="0">
              <a:buNone/>
            </a:pPr>
            <a:r>
              <a:rPr lang="en-US" sz="1050" dirty="0">
                <a:solidFill>
                  <a:srgbClr val="21295C"/>
                </a:solidFill>
                <a:latin typeface="Calibri" pitchFamily="34" charset="0"/>
                <a:ea typeface="Calibri" pitchFamily="34" charset="-122"/>
                <a:cs typeface="Calibri" pitchFamily="34" charset="-120"/>
              </a:rPr>
              <a:t>radius  r</a:t>
            </a:r>
            <a:endParaRPr lang="en-US" sz="1050" dirty="0"/>
          </a:p>
        </p:txBody>
      </p:sp>
      <p:sp>
        <p:nvSpPr>
          <p:cNvPr id="110" name="Text 108"/>
          <p:cNvSpPr txBox="1"/>
          <p:nvPr/>
        </p:nvSpPr>
        <p:spPr>
          <a:xfrm>
            <a:off x="6455664" y="4864608"/>
            <a:ext cx="1188720" cy="219456"/>
          </a:xfrm>
          <a:prstGeom prst="rect">
            <a:avLst/>
          </a:prstGeom>
          <a:noFill/>
          <a:ln/>
        </p:spPr>
        <p:txBody>
          <a:bodyPr wrap="square" lIns="0" tIns="0" rIns="0" bIns="0" rtlCol="0" anchor="ctr"/>
          <a:lstStyle/>
          <a:p>
            <a:pPr indent="0" marL="0">
              <a:buNone/>
            </a:pPr>
            <a:r>
              <a:rPr lang="en-US" sz="1000" dirty="0">
                <a:solidFill>
                  <a:srgbClr val="1C7293"/>
                </a:solidFill>
                <a:latin typeface="Calibri" pitchFamily="34" charset="0"/>
                <a:ea typeface="Calibri" pitchFamily="34" charset="-122"/>
                <a:cs typeface="Calibri" pitchFamily="34" charset="-120"/>
              </a:rPr>
              <a:t>dislocation line</a:t>
            </a:r>
            <a:endParaRPr lang="en-US" sz="1000" dirty="0"/>
          </a:p>
        </p:txBody>
      </p:sp>
      <p:sp>
        <p:nvSpPr>
          <p:cNvPr id="111" name="Text 109"/>
          <p:cNvSpPr txBox="1"/>
          <p:nvPr/>
        </p:nvSpPr>
        <p:spPr>
          <a:xfrm>
            <a:off x="6419088" y="6108192"/>
            <a:ext cx="5074920" cy="310896"/>
          </a:xfrm>
          <a:prstGeom prst="rect">
            <a:avLst/>
          </a:prstGeom>
          <a:noFill/>
          <a:ln/>
        </p:spPr>
        <p:txBody>
          <a:bodyPr wrap="square" lIns="0" tIns="0" rIns="0" bIns="0" rtlCol="0" anchor="t"/>
          <a:lstStyle/>
          <a:p>
            <a:pPr indent="0" marL="0">
              <a:buNone/>
            </a:pPr>
            <a:r>
              <a:rPr lang="en-US" sz="1050" i="1" dirty="0">
                <a:solidFill>
                  <a:srgbClr val="5A6472"/>
                </a:solidFill>
                <a:latin typeface="Calibri" pitchFamily="34" charset="0"/>
                <a:ea typeface="Calibri" pitchFamily="34" charset="-122"/>
                <a:cs typeface="Calibri" pitchFamily="34" charset="-120"/>
              </a:rPr>
              <a:t>closer and larger obstacles mean a shorter free length and a harder material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686800" cy="548640"/>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A dislocation travels, then waits</a:t>
            </a:r>
            <a:endParaRPr lang="en-US" sz="3400" dirty="0"/>
          </a:p>
        </p:txBody>
      </p:sp>
      <p:sp>
        <p:nvSpPr>
          <p:cNvPr id="3" name="Text 1"/>
          <p:cNvSpPr txBox="1"/>
          <p:nvPr/>
        </p:nvSpPr>
        <p:spPr>
          <a:xfrm>
            <a:off x="521208" y="841248"/>
            <a:ext cx="10515600" cy="365760"/>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every term in the model is a statement about how long a segment spends travelling and how long it spends held up</a:t>
            </a:r>
            <a:endParaRPr lang="en-US" sz="1350" dirty="0"/>
          </a:p>
        </p:txBody>
      </p:sp>
      <p:sp>
        <p:nvSpPr>
          <p:cNvPr id="4" name="Shape 2"/>
          <p:cNvSpPr/>
          <p:nvPr/>
        </p:nvSpPr>
        <p:spPr>
          <a:xfrm>
            <a:off x="502920" y="1481328"/>
            <a:ext cx="11155680" cy="2487168"/>
          </a:xfrm>
          <a:prstGeom prst="rect">
            <a:avLst/>
          </a:prstGeom>
          <a:solidFill>
            <a:srgbClr val="EEF2F6"/>
          </a:solidFill>
          <a:ln w="12700">
            <a:solidFill>
              <a:srgbClr val="C9D3DC"/>
            </a:solidFill>
            <a:prstDash val="solid"/>
          </a:ln>
        </p:spPr>
      </p:sp>
      <p:sp>
        <p:nvSpPr>
          <p:cNvPr id="5" name="Text 3"/>
          <p:cNvSpPr txBox="1"/>
          <p:nvPr/>
        </p:nvSpPr>
        <p:spPr>
          <a:xfrm>
            <a:off x="658368" y="3639312"/>
            <a:ext cx="1280160" cy="256032"/>
          </a:xfrm>
          <a:prstGeom prst="rect">
            <a:avLst/>
          </a:prstGeom>
          <a:noFill/>
          <a:ln/>
        </p:spPr>
        <p:txBody>
          <a:bodyPr wrap="square" lIns="0" tIns="0" rIns="0" bIns="0" rtlCol="0" anchor="ctr"/>
          <a:lstStyle/>
          <a:p>
            <a:pPr indent="0" marL="0">
              <a:buNone/>
            </a:pPr>
            <a:r>
              <a:rPr lang="en-US" sz="1100" i="1" dirty="0">
                <a:solidFill>
                  <a:srgbClr val="5A6472"/>
                </a:solidFill>
                <a:latin typeface="Calibri" pitchFamily="34" charset="0"/>
                <a:ea typeface="Calibri" pitchFamily="34" charset="-122"/>
                <a:cs typeface="Calibri" pitchFamily="34" charset="-120"/>
              </a:rPr>
              <a:t>slip plane</a:t>
            </a:r>
            <a:endParaRPr lang="en-US" sz="1100" dirty="0"/>
          </a:p>
        </p:txBody>
      </p:sp>
      <p:sp>
        <p:nvSpPr>
          <p:cNvPr id="6" name="Shape 4"/>
          <p:cNvSpPr/>
          <p:nvPr/>
        </p:nvSpPr>
        <p:spPr>
          <a:xfrm>
            <a:off x="822960" y="1755648"/>
            <a:ext cx="10515600" cy="0"/>
          </a:xfrm>
          <a:prstGeom prst="line">
            <a:avLst/>
          </a:prstGeom>
          <a:noFill/>
          <a:ln w="12700">
            <a:solidFill>
              <a:srgbClr val="5A6472"/>
            </a:solidFill>
            <a:prstDash val="dash"/>
            <a:tailEnd type="triangle"/>
          </a:ln>
        </p:spPr>
      </p:sp>
      <p:sp>
        <p:nvSpPr>
          <p:cNvPr id="7" name="Text 5"/>
          <p:cNvSpPr txBox="1"/>
          <p:nvPr/>
        </p:nvSpPr>
        <p:spPr>
          <a:xfrm>
            <a:off x="9784080" y="1444752"/>
            <a:ext cx="1645920" cy="256032"/>
          </a:xfrm>
          <a:prstGeom prst="rect">
            <a:avLst/>
          </a:prstGeom>
          <a:noFill/>
          <a:ln/>
        </p:spPr>
        <p:txBody>
          <a:bodyPr wrap="square" lIns="0" tIns="0" rIns="0" bIns="0" rtlCol="0" anchor="ctr"/>
          <a:lstStyle/>
          <a:p>
            <a:pPr algn="r" indent="0" marL="0">
              <a:buNone/>
            </a:pPr>
            <a:r>
              <a:rPr lang="en-US" sz="1100" dirty="0">
                <a:solidFill>
                  <a:srgbClr val="5A6472"/>
                </a:solidFill>
                <a:latin typeface="Calibri" pitchFamily="34" charset="0"/>
                <a:ea typeface="Calibri" pitchFamily="34" charset="-122"/>
                <a:cs typeface="Calibri" pitchFamily="34" charset="-120"/>
              </a:rPr>
              <a:t>glide direction</a:t>
            </a:r>
            <a:endParaRPr lang="en-US" sz="1100" dirty="0"/>
          </a:p>
        </p:txBody>
      </p:sp>
      <p:sp>
        <p:nvSpPr>
          <p:cNvPr id="8" name="Shape 6"/>
          <p:cNvSpPr/>
          <p:nvPr/>
        </p:nvSpPr>
        <p:spPr>
          <a:xfrm>
            <a:off x="868680" y="2852928"/>
            <a:ext cx="1143000" cy="0"/>
          </a:xfrm>
          <a:prstGeom prst="line">
            <a:avLst/>
          </a:prstGeom>
          <a:noFill/>
          <a:ln w="44450">
            <a:solidFill>
              <a:srgbClr val="1C7293"/>
            </a:solidFill>
            <a:prstDash val="solid"/>
          </a:ln>
        </p:spPr>
      </p:sp>
      <p:sp>
        <p:nvSpPr>
          <p:cNvPr id="9" name="Shape 7"/>
          <p:cNvSpPr/>
          <p:nvPr/>
        </p:nvSpPr>
        <p:spPr>
          <a:xfrm>
            <a:off x="2011680" y="2852928"/>
            <a:ext cx="0" cy="-384048"/>
          </a:xfrm>
          <a:prstGeom prst="line">
            <a:avLst/>
          </a:prstGeom>
          <a:noFill/>
          <a:ln w="44450">
            <a:solidFill>
              <a:srgbClr val="1C7293"/>
            </a:solidFill>
            <a:prstDash val="solid"/>
          </a:ln>
        </p:spPr>
      </p:sp>
      <p:sp>
        <p:nvSpPr>
          <p:cNvPr id="10" name="Shape 8"/>
          <p:cNvSpPr/>
          <p:nvPr/>
        </p:nvSpPr>
        <p:spPr>
          <a:xfrm>
            <a:off x="2011680" y="2468880"/>
            <a:ext cx="731520" cy="0"/>
          </a:xfrm>
          <a:prstGeom prst="line">
            <a:avLst/>
          </a:prstGeom>
          <a:noFill/>
          <a:ln w="44450">
            <a:solidFill>
              <a:srgbClr val="1C7293"/>
            </a:solidFill>
            <a:prstDash val="solid"/>
          </a:ln>
        </p:spPr>
      </p:sp>
      <p:sp>
        <p:nvSpPr>
          <p:cNvPr id="11" name="Shape 9"/>
          <p:cNvSpPr/>
          <p:nvPr/>
        </p:nvSpPr>
        <p:spPr>
          <a:xfrm>
            <a:off x="2743200" y="2468880"/>
            <a:ext cx="0" cy="384048"/>
          </a:xfrm>
          <a:prstGeom prst="line">
            <a:avLst/>
          </a:prstGeom>
          <a:noFill/>
          <a:ln w="44450">
            <a:solidFill>
              <a:srgbClr val="1C7293"/>
            </a:solidFill>
            <a:prstDash val="solid"/>
          </a:ln>
        </p:spPr>
      </p:sp>
      <p:sp>
        <p:nvSpPr>
          <p:cNvPr id="12" name="Shape 10"/>
          <p:cNvSpPr/>
          <p:nvPr/>
        </p:nvSpPr>
        <p:spPr>
          <a:xfrm>
            <a:off x="2743200" y="2852928"/>
            <a:ext cx="868680" cy="0"/>
          </a:xfrm>
          <a:prstGeom prst="line">
            <a:avLst/>
          </a:prstGeom>
          <a:noFill/>
          <a:ln w="44450">
            <a:solidFill>
              <a:srgbClr val="1C7293"/>
            </a:solidFill>
            <a:prstDash val="solid"/>
          </a:ln>
        </p:spPr>
      </p:sp>
      <p:sp>
        <p:nvSpPr>
          <p:cNvPr id="13" name="Text 11"/>
          <p:cNvSpPr txBox="1"/>
          <p:nvPr/>
        </p:nvSpPr>
        <p:spPr>
          <a:xfrm>
            <a:off x="1847088" y="2066544"/>
            <a:ext cx="1097280" cy="237744"/>
          </a:xfrm>
          <a:prstGeom prst="rect">
            <a:avLst/>
          </a:prstGeom>
          <a:noFill/>
          <a:ln/>
        </p:spPr>
        <p:txBody>
          <a:bodyPr wrap="square" lIns="0" tIns="0" rIns="0" bIns="0" rtlCol="0" anchor="ctr"/>
          <a:lstStyle/>
          <a:p>
            <a:pPr algn="ctr" indent="0" marL="0">
              <a:buNone/>
            </a:pPr>
            <a:r>
              <a:rPr lang="en-US" sz="1100" b="1" dirty="0">
                <a:solidFill>
                  <a:srgbClr val="1C7293"/>
                </a:solidFill>
                <a:latin typeface="Calibri" pitchFamily="34" charset="0"/>
                <a:ea typeface="Calibri" pitchFamily="34" charset="-122"/>
                <a:cs typeface="Calibri" pitchFamily="34" charset="-120"/>
              </a:rPr>
              <a:t>kink pair</a:t>
            </a:r>
            <a:endParaRPr lang="en-US" sz="1100" dirty="0"/>
          </a:p>
        </p:txBody>
      </p:sp>
      <p:sp>
        <p:nvSpPr>
          <p:cNvPr id="14" name="Shape 12"/>
          <p:cNvSpPr/>
          <p:nvPr/>
        </p:nvSpPr>
        <p:spPr>
          <a:xfrm>
            <a:off x="2377440" y="2322576"/>
            <a:ext cx="0" cy="128016"/>
          </a:xfrm>
          <a:prstGeom prst="line">
            <a:avLst/>
          </a:prstGeom>
          <a:noFill/>
          <a:ln w="12700">
            <a:solidFill>
              <a:srgbClr val="1C7293"/>
            </a:solidFill>
            <a:prstDash val="solid"/>
          </a:ln>
        </p:spPr>
      </p:sp>
      <p:sp>
        <p:nvSpPr>
          <p:cNvPr id="15" name="Shape 13"/>
          <p:cNvSpPr/>
          <p:nvPr/>
        </p:nvSpPr>
        <p:spPr>
          <a:xfrm>
            <a:off x="4210812" y="2619756"/>
            <a:ext cx="502920" cy="502920"/>
          </a:xfrm>
          <a:prstGeom prst="ellipse">
            <a:avLst/>
          </a:prstGeom>
          <a:solidFill>
            <a:srgbClr val="B85042"/>
          </a:solidFill>
          <a:ln w="12700">
            <a:solidFill>
              <a:srgbClr val="B85042"/>
            </a:solidFill>
            <a:prstDash val="solid"/>
          </a:ln>
        </p:spPr>
      </p:sp>
      <p:sp>
        <p:nvSpPr>
          <p:cNvPr id="16" name="Shape 14"/>
          <p:cNvSpPr/>
          <p:nvPr/>
        </p:nvSpPr>
        <p:spPr>
          <a:xfrm>
            <a:off x="3611880" y="2852928"/>
            <a:ext cx="384048" cy="0"/>
          </a:xfrm>
          <a:prstGeom prst="line">
            <a:avLst/>
          </a:prstGeom>
          <a:noFill/>
          <a:ln w="44450">
            <a:solidFill>
              <a:srgbClr val="1C7293"/>
            </a:solidFill>
            <a:prstDash val="solid"/>
          </a:ln>
        </p:spPr>
      </p:sp>
      <p:sp>
        <p:nvSpPr>
          <p:cNvPr id="17" name="Shape 15"/>
          <p:cNvSpPr/>
          <p:nvPr/>
        </p:nvSpPr>
        <p:spPr>
          <a:xfrm>
            <a:off x="3995928" y="2852928"/>
            <a:ext cx="320040" cy="-365760"/>
          </a:xfrm>
          <a:prstGeom prst="line">
            <a:avLst/>
          </a:prstGeom>
          <a:noFill/>
          <a:ln w="44450">
            <a:solidFill>
              <a:srgbClr val="1C7293"/>
            </a:solidFill>
            <a:prstDash val="solid"/>
          </a:ln>
        </p:spPr>
      </p:sp>
      <p:sp>
        <p:nvSpPr>
          <p:cNvPr id="18" name="Shape 16"/>
          <p:cNvSpPr/>
          <p:nvPr/>
        </p:nvSpPr>
        <p:spPr>
          <a:xfrm>
            <a:off x="4315968" y="2487168"/>
            <a:ext cx="292608" cy="0"/>
          </a:xfrm>
          <a:prstGeom prst="line">
            <a:avLst/>
          </a:prstGeom>
          <a:noFill/>
          <a:ln w="44450">
            <a:solidFill>
              <a:srgbClr val="1C7293"/>
            </a:solidFill>
            <a:prstDash val="solid"/>
          </a:ln>
        </p:spPr>
      </p:sp>
      <p:sp>
        <p:nvSpPr>
          <p:cNvPr id="19" name="Shape 17"/>
          <p:cNvSpPr/>
          <p:nvPr/>
        </p:nvSpPr>
        <p:spPr>
          <a:xfrm>
            <a:off x="4608576" y="2487168"/>
            <a:ext cx="320040" cy="365760"/>
          </a:xfrm>
          <a:prstGeom prst="line">
            <a:avLst/>
          </a:prstGeom>
          <a:noFill/>
          <a:ln w="44450">
            <a:solidFill>
              <a:srgbClr val="1C7293"/>
            </a:solidFill>
            <a:prstDash val="solid"/>
          </a:ln>
        </p:spPr>
      </p:sp>
      <p:sp>
        <p:nvSpPr>
          <p:cNvPr id="20" name="Shape 18"/>
          <p:cNvSpPr/>
          <p:nvPr/>
        </p:nvSpPr>
        <p:spPr>
          <a:xfrm>
            <a:off x="4928616" y="2852928"/>
            <a:ext cx="457200" cy="0"/>
          </a:xfrm>
          <a:prstGeom prst="line">
            <a:avLst/>
          </a:prstGeom>
          <a:noFill/>
          <a:ln w="44450">
            <a:solidFill>
              <a:srgbClr val="1C7293"/>
            </a:solidFill>
            <a:prstDash val="solid"/>
          </a:ln>
        </p:spPr>
      </p:sp>
      <p:sp>
        <p:nvSpPr>
          <p:cNvPr id="21" name="Text 19"/>
          <p:cNvSpPr txBox="1"/>
          <p:nvPr/>
        </p:nvSpPr>
        <p:spPr>
          <a:xfrm>
            <a:off x="3520440" y="3108960"/>
            <a:ext cx="2011680" cy="457200"/>
          </a:xfrm>
          <a:prstGeom prst="rect">
            <a:avLst/>
          </a:prstGeom>
          <a:noFill/>
          <a:ln/>
        </p:spPr>
        <p:txBody>
          <a:bodyPr wrap="square" lIns="0" tIns="0" rIns="0" bIns="0" rtlCol="0" anchor="t"/>
          <a:lstStyle/>
          <a:p>
            <a:pPr algn="ctr" indent="0" marL="0">
              <a:buNone/>
            </a:pPr>
            <a:r>
              <a:rPr lang="en-US" sz="1100" dirty="0">
                <a:solidFill>
                  <a:srgbClr val="21295C"/>
                </a:solidFill>
                <a:latin typeface="Calibri" pitchFamily="34" charset="0"/>
                <a:ea typeface="Calibri" pitchFamily="34" charset="-122"/>
                <a:cs typeface="Calibri" pitchFamily="34" charset="-120"/>
              </a:rPr>
              <a:t>held at a particle, the line bows out</a:t>
            </a:r>
            <a:endParaRPr lang="en-US" sz="1100" dirty="0"/>
          </a:p>
        </p:txBody>
      </p:sp>
      <p:sp>
        <p:nvSpPr>
          <p:cNvPr id="22" name="Shape 20"/>
          <p:cNvSpPr/>
          <p:nvPr/>
        </p:nvSpPr>
        <p:spPr>
          <a:xfrm>
            <a:off x="6446520" y="2468880"/>
            <a:ext cx="420624" cy="713232"/>
          </a:xfrm>
          <a:prstGeom prst="line">
            <a:avLst/>
          </a:prstGeom>
          <a:noFill/>
          <a:ln w="31750">
            <a:solidFill>
              <a:srgbClr val="21295C"/>
            </a:solidFill>
            <a:prstDash val="solid"/>
          </a:ln>
        </p:spPr>
      </p:sp>
      <p:sp>
        <p:nvSpPr>
          <p:cNvPr id="23" name="Shape 21"/>
          <p:cNvSpPr/>
          <p:nvPr/>
        </p:nvSpPr>
        <p:spPr>
          <a:xfrm>
            <a:off x="6446520" y="3182112"/>
            <a:ext cx="420624" cy="-713232"/>
          </a:xfrm>
          <a:prstGeom prst="line">
            <a:avLst/>
          </a:prstGeom>
          <a:noFill/>
          <a:ln w="31750">
            <a:solidFill>
              <a:srgbClr val="21295C"/>
            </a:solidFill>
            <a:prstDash val="solid"/>
          </a:ln>
        </p:spPr>
      </p:sp>
      <p:sp>
        <p:nvSpPr>
          <p:cNvPr id="24" name="Shape 22"/>
          <p:cNvSpPr/>
          <p:nvPr/>
        </p:nvSpPr>
        <p:spPr>
          <a:xfrm>
            <a:off x="5532120" y="2852928"/>
            <a:ext cx="896112" cy="0"/>
          </a:xfrm>
          <a:prstGeom prst="line">
            <a:avLst/>
          </a:prstGeom>
          <a:noFill/>
          <a:ln w="44450">
            <a:solidFill>
              <a:srgbClr val="1C7293"/>
            </a:solidFill>
            <a:prstDash val="solid"/>
          </a:ln>
        </p:spPr>
      </p:sp>
      <p:sp>
        <p:nvSpPr>
          <p:cNvPr id="25" name="Shape 23"/>
          <p:cNvSpPr/>
          <p:nvPr/>
        </p:nvSpPr>
        <p:spPr>
          <a:xfrm>
            <a:off x="6903720" y="2852928"/>
            <a:ext cx="868680" cy="0"/>
          </a:xfrm>
          <a:prstGeom prst="line">
            <a:avLst/>
          </a:prstGeom>
          <a:noFill/>
          <a:ln w="44450">
            <a:solidFill>
              <a:srgbClr val="1C7293"/>
            </a:solidFill>
            <a:prstDash val="solid"/>
          </a:ln>
        </p:spPr>
      </p:sp>
      <p:sp>
        <p:nvSpPr>
          <p:cNvPr id="26" name="Text 24"/>
          <p:cNvSpPr txBox="1"/>
          <p:nvPr/>
        </p:nvSpPr>
        <p:spPr>
          <a:xfrm>
            <a:off x="5971032" y="2121408"/>
            <a:ext cx="1371600" cy="237744"/>
          </a:xfrm>
          <a:prstGeom prst="rect">
            <a:avLst/>
          </a:prstGeom>
          <a:noFill/>
          <a:ln/>
        </p:spPr>
        <p:txBody>
          <a:bodyPr wrap="square" lIns="0" tIns="0" rIns="0" bIns="0" rtlCol="0" anchor="ctr"/>
          <a:lstStyle/>
          <a:p>
            <a:pPr algn="ctr" indent="0" marL="0">
              <a:buNone/>
            </a:pPr>
            <a:r>
              <a:rPr lang="en-US" sz="1100" dirty="0">
                <a:solidFill>
                  <a:srgbClr val="21295C"/>
                </a:solidFill>
                <a:latin typeface="Calibri" pitchFamily="34" charset="0"/>
                <a:ea typeface="Calibri" pitchFamily="34" charset="-122"/>
                <a:cs typeface="Calibri" pitchFamily="34" charset="-120"/>
              </a:rPr>
              <a:t>forest junction</a:t>
            </a:r>
            <a:endParaRPr lang="en-US" sz="1100" dirty="0"/>
          </a:p>
        </p:txBody>
      </p:sp>
      <p:sp>
        <p:nvSpPr>
          <p:cNvPr id="27" name="Shape 25"/>
          <p:cNvSpPr/>
          <p:nvPr/>
        </p:nvSpPr>
        <p:spPr>
          <a:xfrm>
            <a:off x="7955280" y="2651760"/>
            <a:ext cx="109728" cy="109728"/>
          </a:xfrm>
          <a:prstGeom prst="ellipse">
            <a:avLst/>
          </a:prstGeom>
          <a:solidFill>
            <a:srgbClr val="C98A16"/>
          </a:solidFill>
          <a:ln w="12700">
            <a:solidFill>
              <a:srgbClr val="C98A16"/>
            </a:solidFill>
            <a:prstDash val="solid"/>
          </a:ln>
        </p:spPr>
      </p:sp>
      <p:sp>
        <p:nvSpPr>
          <p:cNvPr id="28" name="Shape 26"/>
          <p:cNvSpPr/>
          <p:nvPr/>
        </p:nvSpPr>
        <p:spPr>
          <a:xfrm>
            <a:off x="8156448" y="2651760"/>
            <a:ext cx="109728" cy="109728"/>
          </a:xfrm>
          <a:prstGeom prst="ellipse">
            <a:avLst/>
          </a:prstGeom>
          <a:solidFill>
            <a:srgbClr val="C98A16"/>
          </a:solidFill>
          <a:ln w="12700">
            <a:solidFill>
              <a:srgbClr val="C98A16"/>
            </a:solidFill>
            <a:prstDash val="solid"/>
          </a:ln>
        </p:spPr>
      </p:sp>
      <p:sp>
        <p:nvSpPr>
          <p:cNvPr id="29" name="Shape 27"/>
          <p:cNvSpPr/>
          <p:nvPr/>
        </p:nvSpPr>
        <p:spPr>
          <a:xfrm>
            <a:off x="8357616" y="2651760"/>
            <a:ext cx="109728" cy="109728"/>
          </a:xfrm>
          <a:prstGeom prst="ellipse">
            <a:avLst/>
          </a:prstGeom>
          <a:solidFill>
            <a:srgbClr val="C98A16"/>
          </a:solidFill>
          <a:ln w="12700">
            <a:solidFill>
              <a:srgbClr val="C98A16"/>
            </a:solidFill>
            <a:prstDash val="solid"/>
          </a:ln>
        </p:spPr>
      </p:sp>
      <p:sp>
        <p:nvSpPr>
          <p:cNvPr id="30" name="Shape 28"/>
          <p:cNvSpPr/>
          <p:nvPr/>
        </p:nvSpPr>
        <p:spPr>
          <a:xfrm>
            <a:off x="8558784" y="2651760"/>
            <a:ext cx="109728" cy="109728"/>
          </a:xfrm>
          <a:prstGeom prst="ellipse">
            <a:avLst/>
          </a:prstGeom>
          <a:solidFill>
            <a:srgbClr val="C98A16"/>
          </a:solidFill>
          <a:ln w="12700">
            <a:solidFill>
              <a:srgbClr val="C98A16"/>
            </a:solidFill>
            <a:prstDash val="solid"/>
          </a:ln>
        </p:spPr>
      </p:sp>
      <p:sp>
        <p:nvSpPr>
          <p:cNvPr id="31" name="Shape 29"/>
          <p:cNvSpPr/>
          <p:nvPr/>
        </p:nvSpPr>
        <p:spPr>
          <a:xfrm>
            <a:off x="8759952" y="2651760"/>
            <a:ext cx="109728" cy="109728"/>
          </a:xfrm>
          <a:prstGeom prst="ellipse">
            <a:avLst/>
          </a:prstGeom>
          <a:solidFill>
            <a:srgbClr val="C98A16"/>
          </a:solidFill>
          <a:ln w="12700">
            <a:solidFill>
              <a:srgbClr val="C98A16"/>
            </a:solidFill>
            <a:prstDash val="solid"/>
          </a:ln>
        </p:spPr>
      </p:sp>
      <p:sp>
        <p:nvSpPr>
          <p:cNvPr id="32" name="Shape 30"/>
          <p:cNvSpPr/>
          <p:nvPr/>
        </p:nvSpPr>
        <p:spPr>
          <a:xfrm>
            <a:off x="7772400" y="2852928"/>
            <a:ext cx="1188720" cy="0"/>
          </a:xfrm>
          <a:prstGeom prst="line">
            <a:avLst/>
          </a:prstGeom>
          <a:noFill/>
          <a:ln w="44450">
            <a:solidFill>
              <a:srgbClr val="1C7293"/>
            </a:solidFill>
            <a:prstDash val="solid"/>
          </a:ln>
        </p:spPr>
      </p:sp>
      <p:sp>
        <p:nvSpPr>
          <p:cNvPr id="33" name="Text 31"/>
          <p:cNvSpPr txBox="1"/>
          <p:nvPr/>
        </p:nvSpPr>
        <p:spPr>
          <a:xfrm>
            <a:off x="7452360" y="2139696"/>
            <a:ext cx="2011680" cy="237744"/>
          </a:xfrm>
          <a:prstGeom prst="rect">
            <a:avLst/>
          </a:prstGeom>
          <a:noFill/>
          <a:ln/>
        </p:spPr>
        <p:txBody>
          <a:bodyPr wrap="square" lIns="0" tIns="0" rIns="0" bIns="0" rtlCol="0" anchor="ctr"/>
          <a:lstStyle/>
          <a:p>
            <a:pPr algn="ctr" indent="0" marL="0">
              <a:buNone/>
            </a:pPr>
            <a:r>
              <a:rPr lang="en-US" sz="1100" dirty="0">
                <a:solidFill>
                  <a:srgbClr val="C98A16"/>
                </a:solidFill>
                <a:latin typeface="Calibri" pitchFamily="34" charset="0"/>
                <a:ea typeface="Calibri" pitchFamily="34" charset="-122"/>
                <a:cs typeface="Calibri" pitchFamily="34" charset="-120"/>
              </a:rPr>
              <a:t>solutes collect while it waits</a:t>
            </a:r>
            <a:endParaRPr lang="en-US" sz="1100" dirty="0"/>
          </a:p>
        </p:txBody>
      </p:sp>
      <p:sp>
        <p:nvSpPr>
          <p:cNvPr id="34" name="Shape 32"/>
          <p:cNvSpPr/>
          <p:nvPr/>
        </p:nvSpPr>
        <p:spPr>
          <a:xfrm>
            <a:off x="9715500" y="2619756"/>
            <a:ext cx="502920" cy="502920"/>
          </a:xfrm>
          <a:prstGeom prst="ellipse">
            <a:avLst/>
          </a:prstGeom>
          <a:solidFill>
            <a:srgbClr val="B85042"/>
          </a:solidFill>
          <a:ln w="12700">
            <a:solidFill>
              <a:srgbClr val="B85042"/>
            </a:solidFill>
            <a:prstDash val="solid"/>
          </a:ln>
        </p:spPr>
      </p:sp>
      <p:sp>
        <p:nvSpPr>
          <p:cNvPr id="35" name="Shape 33"/>
          <p:cNvSpPr/>
          <p:nvPr/>
        </p:nvSpPr>
        <p:spPr>
          <a:xfrm>
            <a:off x="8961120" y="2852928"/>
            <a:ext cx="603504" cy="0"/>
          </a:xfrm>
          <a:prstGeom prst="line">
            <a:avLst/>
          </a:prstGeom>
          <a:noFill/>
          <a:ln w="44450">
            <a:solidFill>
              <a:srgbClr val="1C7293"/>
            </a:solidFill>
            <a:prstDash val="solid"/>
          </a:ln>
        </p:spPr>
      </p:sp>
      <p:sp>
        <p:nvSpPr>
          <p:cNvPr id="36" name="Shape 34"/>
          <p:cNvSpPr/>
          <p:nvPr/>
        </p:nvSpPr>
        <p:spPr>
          <a:xfrm>
            <a:off x="9564624" y="2852928"/>
            <a:ext cx="256032" cy="-530352"/>
          </a:xfrm>
          <a:prstGeom prst="line">
            <a:avLst/>
          </a:prstGeom>
          <a:noFill/>
          <a:ln w="31750">
            <a:solidFill>
              <a:srgbClr val="065A82"/>
            </a:solidFill>
            <a:prstDash val="dash"/>
          </a:ln>
        </p:spPr>
      </p:sp>
      <p:sp>
        <p:nvSpPr>
          <p:cNvPr id="37" name="Shape 35"/>
          <p:cNvSpPr/>
          <p:nvPr/>
        </p:nvSpPr>
        <p:spPr>
          <a:xfrm>
            <a:off x="9820656" y="2322576"/>
            <a:ext cx="402336" cy="0"/>
          </a:xfrm>
          <a:prstGeom prst="line">
            <a:avLst/>
          </a:prstGeom>
          <a:noFill/>
          <a:ln w="31750">
            <a:solidFill>
              <a:srgbClr val="065A82"/>
            </a:solidFill>
            <a:prstDash val="dash"/>
          </a:ln>
        </p:spPr>
      </p:sp>
      <p:sp>
        <p:nvSpPr>
          <p:cNvPr id="38" name="Shape 36"/>
          <p:cNvSpPr/>
          <p:nvPr/>
        </p:nvSpPr>
        <p:spPr>
          <a:xfrm>
            <a:off x="10222992" y="2322576"/>
            <a:ext cx="256032" cy="530352"/>
          </a:xfrm>
          <a:prstGeom prst="line">
            <a:avLst/>
          </a:prstGeom>
          <a:noFill/>
          <a:ln w="31750">
            <a:solidFill>
              <a:srgbClr val="065A82"/>
            </a:solidFill>
            <a:prstDash val="dash"/>
          </a:ln>
        </p:spPr>
      </p:sp>
      <p:sp>
        <p:nvSpPr>
          <p:cNvPr id="39" name="Shape 37"/>
          <p:cNvSpPr/>
          <p:nvPr/>
        </p:nvSpPr>
        <p:spPr>
          <a:xfrm>
            <a:off x="10479024" y="2852928"/>
            <a:ext cx="1024128" cy="0"/>
          </a:xfrm>
          <a:prstGeom prst="line">
            <a:avLst/>
          </a:prstGeom>
          <a:noFill/>
          <a:ln w="44450">
            <a:solidFill>
              <a:srgbClr val="1C7293"/>
            </a:solidFill>
            <a:prstDash val="solid"/>
            <a:tailEnd type="triangle"/>
          </a:ln>
        </p:spPr>
      </p:sp>
      <p:sp>
        <p:nvSpPr>
          <p:cNvPr id="40" name="Text 38"/>
          <p:cNvSpPr txBox="1"/>
          <p:nvPr/>
        </p:nvSpPr>
        <p:spPr>
          <a:xfrm>
            <a:off x="9098280" y="3108960"/>
            <a:ext cx="2560320" cy="457200"/>
          </a:xfrm>
          <a:prstGeom prst="rect">
            <a:avLst/>
          </a:prstGeom>
          <a:noFill/>
          <a:ln/>
        </p:spPr>
        <p:txBody>
          <a:bodyPr wrap="square" lIns="0" tIns="0" rIns="0" bIns="0" rtlCol="0" anchor="t"/>
          <a:lstStyle/>
          <a:p>
            <a:pPr algn="ctr" indent="0" marL="0">
              <a:buNone/>
            </a:pPr>
            <a:r>
              <a:rPr lang="en-US" sz="1100" dirty="0">
                <a:solidFill>
                  <a:srgbClr val="21295C"/>
                </a:solidFill>
                <a:latin typeface="Calibri" pitchFamily="34" charset="0"/>
                <a:ea typeface="Calibri" pitchFamily="34" charset="-122"/>
                <a:cs typeface="Calibri" pitchFamily="34" charset="-120"/>
              </a:rPr>
              <a:t>climbs over or breaks away,</a:t>
            </a:r>
            <a:endParaRPr lang="en-US" sz="1100" dirty="0"/>
          </a:p>
          <a:p>
            <a:pPr algn="ctr" indent="0" marL="0">
              <a:buNone/>
            </a:pPr>
            <a:r>
              <a:rPr lang="en-US" sz="1100" dirty="0">
                <a:solidFill>
                  <a:srgbClr val="21295C"/>
                </a:solidFill>
                <a:latin typeface="Calibri" pitchFamily="34" charset="0"/>
                <a:ea typeface="Calibri" pitchFamily="34" charset="-122"/>
                <a:cs typeface="Calibri" pitchFamily="34" charset="-120"/>
              </a:rPr>
              <a:t>and travels again</a:t>
            </a:r>
            <a:endParaRPr lang="en-US" sz="1100" dirty="0"/>
          </a:p>
        </p:txBody>
      </p:sp>
      <p:sp>
        <p:nvSpPr>
          <p:cNvPr id="41" name="Shape 39"/>
          <p:cNvSpPr/>
          <p:nvPr/>
        </p:nvSpPr>
        <p:spPr>
          <a:xfrm>
            <a:off x="502920" y="4224528"/>
            <a:ext cx="3566160" cy="2148840"/>
          </a:xfrm>
          <a:prstGeom prst="roundRect">
            <a:avLst>
              <a:gd name="adj" fmla="val 3404"/>
            </a:avLst>
          </a:prstGeom>
          <a:solidFill>
            <a:srgbClr val="FFFFFF"/>
          </a:solidFill>
          <a:ln w="12700">
            <a:solidFill>
              <a:srgbClr val="C9D3DC"/>
            </a:solidFill>
            <a:prstDash val="solid"/>
          </a:ln>
          <a:effectLst>
            <a:outerShdw sx="100000" sy="100000" kx="0" ky="0" algn="bl" rotWithShape="0" blurRad="76200" dist="12700" dir="5400000">
              <a:srgbClr val="9AA7B4">
                <a:alpha val="25000"/>
              </a:srgbClr>
            </a:outerShdw>
          </a:effectLst>
        </p:spPr>
      </p:sp>
      <p:sp>
        <p:nvSpPr>
          <p:cNvPr id="42" name="Shape 40"/>
          <p:cNvSpPr/>
          <p:nvPr/>
        </p:nvSpPr>
        <p:spPr>
          <a:xfrm>
            <a:off x="704088" y="4425696"/>
            <a:ext cx="310896" cy="310896"/>
          </a:xfrm>
          <a:prstGeom prst="ellipse">
            <a:avLst/>
          </a:prstGeom>
          <a:solidFill>
            <a:srgbClr val="1C7293"/>
          </a:solidFill>
          <a:ln w="12700">
            <a:solidFill>
              <a:srgbClr val="1C7293"/>
            </a:solidFill>
            <a:prstDash val="solid"/>
          </a:ln>
        </p:spPr>
      </p:sp>
      <p:sp>
        <p:nvSpPr>
          <p:cNvPr id="43" name="Text 41"/>
          <p:cNvSpPr txBox="1"/>
          <p:nvPr/>
        </p:nvSpPr>
        <p:spPr>
          <a:xfrm>
            <a:off x="1106424" y="4370832"/>
            <a:ext cx="2788920" cy="41148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Travelling</a:t>
            </a:r>
            <a:endParaRPr lang="en-US" sz="1500" dirty="0"/>
          </a:p>
        </p:txBody>
      </p:sp>
      <p:sp>
        <p:nvSpPr>
          <p:cNvPr id="44" name="Text 42"/>
          <p:cNvSpPr txBox="1"/>
          <p:nvPr/>
        </p:nvSpPr>
        <p:spPr>
          <a:xfrm>
            <a:off x="722376" y="4846320"/>
            <a:ext cx="3127248" cy="1371600"/>
          </a:xfrm>
          <a:prstGeom prst="rect">
            <a:avLst/>
          </a:prstGeom>
          <a:noFill/>
          <a:ln/>
        </p:spPr>
        <p:txBody>
          <a:bodyPr wrap="square" lIns="0" tIns="0" rIns="0" bIns="0" rtlCol="0" anchor="t"/>
          <a:lstStyle/>
          <a:p>
            <a:pPr indent="0" marL="0">
              <a:lnSpc>
                <a:spcPct val="110000"/>
              </a:lnSpc>
              <a:buNone/>
            </a:pPr>
            <a:r>
              <a:rPr lang="en-US" sz="1200" dirty="0">
                <a:solidFill>
                  <a:srgbClr val="5A6472"/>
                </a:solidFill>
                <a:latin typeface="Calibri" pitchFamily="34" charset="0"/>
                <a:ea typeface="Calibri" pitchFamily="34" charset="-122"/>
                <a:cs typeface="Calibri" pitchFamily="34" charset="-120"/>
              </a:rPr>
              <a:t>Between obstacles the segment glides by nucleating kink pairs on screw dislocations and sweeping them sideways. This is slow and hard when it is cold, and almost free once the barrier is thermally overcome.</a:t>
            </a:r>
            <a:endParaRPr lang="en-US" sz="1200" dirty="0"/>
          </a:p>
        </p:txBody>
      </p:sp>
      <p:sp>
        <p:nvSpPr>
          <p:cNvPr id="45" name="Shape 43"/>
          <p:cNvSpPr/>
          <p:nvPr/>
        </p:nvSpPr>
        <p:spPr>
          <a:xfrm>
            <a:off x="4315968" y="4224528"/>
            <a:ext cx="3566160" cy="2148840"/>
          </a:xfrm>
          <a:prstGeom prst="roundRect">
            <a:avLst>
              <a:gd name="adj" fmla="val 3404"/>
            </a:avLst>
          </a:prstGeom>
          <a:solidFill>
            <a:srgbClr val="FFFFFF"/>
          </a:solidFill>
          <a:ln w="12700">
            <a:solidFill>
              <a:srgbClr val="C9D3DC"/>
            </a:solidFill>
            <a:prstDash val="solid"/>
          </a:ln>
          <a:effectLst>
            <a:outerShdw sx="100000" sy="100000" kx="0" ky="0" algn="bl" rotWithShape="0" blurRad="76200" dist="12700" dir="5400000">
              <a:srgbClr val="9AA7B4">
                <a:alpha val="25000"/>
              </a:srgbClr>
            </a:outerShdw>
          </a:effectLst>
        </p:spPr>
      </p:sp>
      <p:sp>
        <p:nvSpPr>
          <p:cNvPr id="46" name="Shape 44"/>
          <p:cNvSpPr/>
          <p:nvPr/>
        </p:nvSpPr>
        <p:spPr>
          <a:xfrm>
            <a:off x="4517136" y="4425696"/>
            <a:ext cx="310896" cy="310896"/>
          </a:xfrm>
          <a:prstGeom prst="ellipse">
            <a:avLst/>
          </a:prstGeom>
          <a:solidFill>
            <a:srgbClr val="B85042"/>
          </a:solidFill>
          <a:ln w="12700">
            <a:solidFill>
              <a:srgbClr val="B85042"/>
            </a:solidFill>
            <a:prstDash val="solid"/>
          </a:ln>
        </p:spPr>
      </p:sp>
      <p:sp>
        <p:nvSpPr>
          <p:cNvPr id="47" name="Text 45"/>
          <p:cNvSpPr txBox="1"/>
          <p:nvPr/>
        </p:nvSpPr>
        <p:spPr>
          <a:xfrm>
            <a:off x="4919472" y="4370832"/>
            <a:ext cx="2788920" cy="41148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Waiting</a:t>
            </a:r>
            <a:endParaRPr lang="en-US" sz="1500" dirty="0"/>
          </a:p>
        </p:txBody>
      </p:sp>
      <p:sp>
        <p:nvSpPr>
          <p:cNvPr id="48" name="Text 46"/>
          <p:cNvSpPr txBox="1"/>
          <p:nvPr/>
        </p:nvSpPr>
        <p:spPr>
          <a:xfrm>
            <a:off x="4535424" y="4846320"/>
            <a:ext cx="3127248" cy="1371600"/>
          </a:xfrm>
          <a:prstGeom prst="rect">
            <a:avLst/>
          </a:prstGeom>
          <a:noFill/>
          <a:ln/>
        </p:spPr>
        <p:txBody>
          <a:bodyPr wrap="square" lIns="0" tIns="0" rIns="0" bIns="0" rtlCol="0" anchor="t"/>
          <a:lstStyle/>
          <a:p>
            <a:pPr indent="0" marL="0">
              <a:lnSpc>
                <a:spcPct val="110000"/>
              </a:lnSpc>
              <a:buNone/>
            </a:pPr>
            <a:r>
              <a:rPr lang="en-US" sz="1200" dirty="0">
                <a:solidFill>
                  <a:srgbClr val="5A6472"/>
                </a:solidFill>
                <a:latin typeface="Calibri" pitchFamily="34" charset="0"/>
                <a:ea typeface="Calibri" pitchFamily="34" charset="-122"/>
                <a:cs typeface="Calibri" pitchFamily="34" charset="-120"/>
              </a:rPr>
              <a:t>At forest junctions, particles and boundaries the line stops and bows out. The longer it waits, the more solute atoms reach it and the stronger the pinning becomes.</a:t>
            </a:r>
            <a:endParaRPr lang="en-US" sz="1200" dirty="0"/>
          </a:p>
        </p:txBody>
      </p:sp>
      <p:sp>
        <p:nvSpPr>
          <p:cNvPr id="49" name="Shape 47"/>
          <p:cNvSpPr/>
          <p:nvPr/>
        </p:nvSpPr>
        <p:spPr>
          <a:xfrm>
            <a:off x="8119872" y="4224528"/>
            <a:ext cx="3538728" cy="2148840"/>
          </a:xfrm>
          <a:prstGeom prst="roundRect">
            <a:avLst>
              <a:gd name="adj" fmla="val 3404"/>
            </a:avLst>
          </a:prstGeom>
          <a:solidFill>
            <a:srgbClr val="FFFFFF"/>
          </a:solidFill>
          <a:ln w="12700">
            <a:solidFill>
              <a:srgbClr val="C9D3DC"/>
            </a:solidFill>
            <a:prstDash val="solid"/>
          </a:ln>
          <a:effectLst>
            <a:outerShdw sx="100000" sy="100000" kx="0" ky="0" algn="bl" rotWithShape="0" blurRad="76200" dist="12700" dir="5400000">
              <a:srgbClr val="9AA7B4">
                <a:alpha val="25000"/>
              </a:srgbClr>
            </a:outerShdw>
          </a:effectLst>
        </p:spPr>
      </p:sp>
      <p:sp>
        <p:nvSpPr>
          <p:cNvPr id="50" name="Shape 48"/>
          <p:cNvSpPr/>
          <p:nvPr/>
        </p:nvSpPr>
        <p:spPr>
          <a:xfrm>
            <a:off x="8321040" y="4425696"/>
            <a:ext cx="310896" cy="310896"/>
          </a:xfrm>
          <a:prstGeom prst="ellipse">
            <a:avLst/>
          </a:prstGeom>
          <a:solidFill>
            <a:srgbClr val="065A82"/>
          </a:solidFill>
          <a:ln w="12700">
            <a:solidFill>
              <a:srgbClr val="065A82"/>
            </a:solidFill>
            <a:prstDash val="solid"/>
          </a:ln>
        </p:spPr>
      </p:sp>
      <p:sp>
        <p:nvSpPr>
          <p:cNvPr id="51" name="Text 49"/>
          <p:cNvSpPr txBox="1"/>
          <p:nvPr/>
        </p:nvSpPr>
        <p:spPr>
          <a:xfrm>
            <a:off x="8723376" y="4370832"/>
            <a:ext cx="2761488" cy="41148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Getting free</a:t>
            </a:r>
            <a:endParaRPr lang="en-US" sz="1500" dirty="0"/>
          </a:p>
        </p:txBody>
      </p:sp>
      <p:sp>
        <p:nvSpPr>
          <p:cNvPr id="52" name="Text 50"/>
          <p:cNvSpPr txBox="1"/>
          <p:nvPr/>
        </p:nvSpPr>
        <p:spPr>
          <a:xfrm>
            <a:off x="8339328" y="4846320"/>
            <a:ext cx="3099816" cy="1371600"/>
          </a:xfrm>
          <a:prstGeom prst="rect">
            <a:avLst/>
          </a:prstGeom>
          <a:noFill/>
          <a:ln/>
        </p:spPr>
        <p:txBody>
          <a:bodyPr wrap="square" lIns="0" tIns="0" rIns="0" bIns="0" rtlCol="0" anchor="t"/>
          <a:lstStyle/>
          <a:p>
            <a:pPr indent="0" marL="0">
              <a:lnSpc>
                <a:spcPct val="110000"/>
              </a:lnSpc>
              <a:buNone/>
            </a:pPr>
            <a:r>
              <a:rPr lang="en-US" sz="1200" dirty="0">
                <a:solidFill>
                  <a:srgbClr val="5A6472"/>
                </a:solidFill>
                <a:latin typeface="Calibri" pitchFamily="34" charset="0"/>
                <a:ea typeface="Calibri" pitchFamily="34" charset="-122"/>
                <a:cs typeface="Calibri" pitchFamily="34" charset="-120"/>
              </a:rPr>
              <a:t>Two escapes compete at every obstacle: thermal activation past it, or climb over it. Whichever happens first releases the segment, and the travelling starts again.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74320"/>
            <a:ext cx="8229600" cy="548640"/>
          </a:xfrm>
          <a:prstGeom prst="rect">
            <a:avLst/>
          </a:prstGeom>
          <a:noFill/>
          <a:ln/>
        </p:spPr>
        <p:txBody>
          <a:bodyPr wrap="square" lIns="0" tIns="0" rIns="0" bIns="0" rtlCol="0" anchor="ctr"/>
          <a:lstStyle/>
          <a:p>
            <a:pPr indent="0" marL="0">
              <a:buNone/>
            </a:pPr>
            <a:r>
              <a:rPr lang="en-US" sz="3400" b="1" dirty="0">
                <a:solidFill>
                  <a:srgbClr val="21295C"/>
                </a:solidFill>
                <a:latin typeface="Cambria" pitchFamily="34" charset="0"/>
                <a:ea typeface="Cambria" pitchFamily="34" charset="-122"/>
                <a:cs typeface="Cambria" pitchFamily="34" charset="-120"/>
              </a:rPr>
              <a:t>The mechanisms in play</a:t>
            </a:r>
            <a:endParaRPr lang="en-US" sz="3400" dirty="0"/>
          </a:p>
        </p:txBody>
      </p:sp>
      <p:sp>
        <p:nvSpPr>
          <p:cNvPr id="3" name="Text 1"/>
          <p:cNvSpPr txBox="1"/>
          <p:nvPr/>
        </p:nvSpPr>
        <p:spPr>
          <a:xfrm>
            <a:off x="521208" y="841248"/>
            <a:ext cx="10515600" cy="365760"/>
          </a:xfrm>
          <a:prstGeom prst="rect">
            <a:avLst/>
          </a:prstGeom>
          <a:noFill/>
          <a:ln/>
        </p:spPr>
        <p:txBody>
          <a:bodyPr wrap="square" lIns="0" tIns="0" rIns="0" bIns="0" rtlCol="0" anchor="ctr"/>
          <a:lstStyle/>
          <a:p>
            <a:pPr indent="0" marL="0">
              <a:buNone/>
            </a:pPr>
            <a:r>
              <a:rPr lang="en-US" sz="1350" dirty="0">
                <a:solidFill>
                  <a:srgbClr val="5A6472"/>
                </a:solidFill>
                <a:latin typeface="Calibri" pitchFamily="34" charset="0"/>
                <a:ea typeface="Calibri" pitchFamily="34" charset="-122"/>
                <a:cs typeface="Calibri" pitchFamily="34" charset="-120"/>
              </a:rPr>
              <a:t>what sets the glide speed, what holds the line up, and what changes the structure while it deforms</a:t>
            </a:r>
            <a:endParaRPr lang="en-US" sz="1350" dirty="0"/>
          </a:p>
        </p:txBody>
      </p:sp>
      <p:sp>
        <p:nvSpPr>
          <p:cNvPr id="4" name="Shape 2"/>
          <p:cNvSpPr/>
          <p:nvPr/>
        </p:nvSpPr>
        <p:spPr>
          <a:xfrm>
            <a:off x="502920" y="1444752"/>
            <a:ext cx="2761488" cy="2240280"/>
          </a:xfrm>
          <a:prstGeom prst="roundRect">
            <a:avLst>
              <a:gd name="adj" fmla="val 3265"/>
            </a:avLst>
          </a:prstGeom>
          <a:solidFill>
            <a:srgbClr val="FFFFFF"/>
          </a:solidFill>
          <a:ln w="12700">
            <a:solidFill>
              <a:srgbClr val="C9D3DC"/>
            </a:solidFill>
            <a:prstDash val="solid"/>
          </a:ln>
          <a:effectLst>
            <a:outerShdw sx="100000" sy="100000" kx="0" ky="0" algn="bl" rotWithShape="0" blurRad="76200" dist="12700" dir="5400000">
              <a:srgbClr val="9AA7B4">
                <a:alpha val="25000"/>
              </a:srgbClr>
            </a:outerShdw>
          </a:effectLst>
        </p:spPr>
      </p:sp>
      <p:sp>
        <p:nvSpPr>
          <p:cNvPr id="5" name="Shape 3"/>
          <p:cNvSpPr/>
          <p:nvPr/>
        </p:nvSpPr>
        <p:spPr>
          <a:xfrm>
            <a:off x="704088" y="1645920"/>
            <a:ext cx="310896" cy="310896"/>
          </a:xfrm>
          <a:prstGeom prst="ellipse">
            <a:avLst/>
          </a:prstGeom>
          <a:solidFill>
            <a:srgbClr val="1C7293"/>
          </a:solidFill>
          <a:ln w="12700">
            <a:solidFill>
              <a:srgbClr val="1C7293"/>
            </a:solidFill>
            <a:prstDash val="solid"/>
          </a:ln>
        </p:spPr>
      </p:sp>
      <p:sp>
        <p:nvSpPr>
          <p:cNvPr id="6" name="Text 4"/>
          <p:cNvSpPr txBox="1"/>
          <p:nvPr/>
        </p:nvSpPr>
        <p:spPr>
          <a:xfrm>
            <a:off x="1106424" y="1591056"/>
            <a:ext cx="1984248" cy="41148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Kink-pair glide</a:t>
            </a:r>
            <a:endParaRPr lang="en-US" sz="1500" dirty="0"/>
          </a:p>
        </p:txBody>
      </p:sp>
      <p:sp>
        <p:nvSpPr>
          <p:cNvPr id="7" name="Text 5"/>
          <p:cNvSpPr txBox="1"/>
          <p:nvPr/>
        </p:nvSpPr>
        <p:spPr>
          <a:xfrm>
            <a:off x="722376" y="2066544"/>
            <a:ext cx="2322576" cy="1463040"/>
          </a:xfrm>
          <a:prstGeom prst="rect">
            <a:avLst/>
          </a:prstGeom>
          <a:noFill/>
          <a:ln/>
        </p:spPr>
        <p:txBody>
          <a:bodyPr wrap="square" lIns="0" tIns="0" rIns="0" bIns="0" rtlCol="0" anchor="t"/>
          <a:lstStyle/>
          <a:p>
            <a:pPr indent="0" marL="0">
              <a:lnSpc>
                <a:spcPct val="110000"/>
              </a:lnSpc>
              <a:buNone/>
            </a:pPr>
            <a:r>
              <a:rPr lang="en-US" sz="1200" dirty="0">
                <a:solidFill>
                  <a:srgbClr val="5A6472"/>
                </a:solidFill>
                <a:latin typeface="Calibri" pitchFamily="34" charset="0"/>
                <a:ea typeface="Calibri" pitchFamily="34" charset="-122"/>
                <a:cs typeface="Calibri" pitchFamily="34" charset="-120"/>
              </a:rPr>
              <a:t>How fast the segment travels through the lattice between obstacles. Sets the low-temperature strength and its strong rate and temperature dependence.</a:t>
            </a:r>
            <a:endParaRPr lang="en-US" sz="1200" dirty="0"/>
          </a:p>
        </p:txBody>
      </p:sp>
      <p:sp>
        <p:nvSpPr>
          <p:cNvPr id="8" name="Shape 6"/>
          <p:cNvSpPr/>
          <p:nvPr/>
        </p:nvSpPr>
        <p:spPr>
          <a:xfrm>
            <a:off x="3401568" y="1444752"/>
            <a:ext cx="2761488" cy="2240280"/>
          </a:xfrm>
          <a:prstGeom prst="roundRect">
            <a:avLst>
              <a:gd name="adj" fmla="val 3265"/>
            </a:avLst>
          </a:prstGeom>
          <a:solidFill>
            <a:srgbClr val="FFFFFF"/>
          </a:solidFill>
          <a:ln w="12700">
            <a:solidFill>
              <a:srgbClr val="C9D3DC"/>
            </a:solidFill>
            <a:prstDash val="solid"/>
          </a:ln>
          <a:effectLst>
            <a:outerShdw sx="100000" sy="100000" kx="0" ky="0" algn="bl" rotWithShape="0" blurRad="76200" dist="12700" dir="5400000">
              <a:srgbClr val="9AA7B4">
                <a:alpha val="25000"/>
              </a:srgbClr>
            </a:outerShdw>
          </a:effectLst>
        </p:spPr>
      </p:sp>
      <p:sp>
        <p:nvSpPr>
          <p:cNvPr id="9" name="Shape 7"/>
          <p:cNvSpPr/>
          <p:nvPr/>
        </p:nvSpPr>
        <p:spPr>
          <a:xfrm>
            <a:off x="3602736" y="1645920"/>
            <a:ext cx="310896" cy="310896"/>
          </a:xfrm>
          <a:prstGeom prst="ellipse">
            <a:avLst/>
          </a:prstGeom>
          <a:solidFill>
            <a:srgbClr val="21295C"/>
          </a:solidFill>
          <a:ln w="12700">
            <a:solidFill>
              <a:srgbClr val="21295C"/>
            </a:solidFill>
            <a:prstDash val="solid"/>
          </a:ln>
        </p:spPr>
      </p:sp>
      <p:sp>
        <p:nvSpPr>
          <p:cNvPr id="10" name="Text 8"/>
          <p:cNvSpPr txBox="1"/>
          <p:nvPr/>
        </p:nvSpPr>
        <p:spPr>
          <a:xfrm>
            <a:off x="4005072" y="1591056"/>
            <a:ext cx="1984248" cy="41148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Forest junctions</a:t>
            </a:r>
            <a:endParaRPr lang="en-US" sz="1500" dirty="0"/>
          </a:p>
        </p:txBody>
      </p:sp>
      <p:sp>
        <p:nvSpPr>
          <p:cNvPr id="11" name="Text 9"/>
          <p:cNvSpPr txBox="1"/>
          <p:nvPr/>
        </p:nvSpPr>
        <p:spPr>
          <a:xfrm>
            <a:off x="3621024" y="2066544"/>
            <a:ext cx="2322576" cy="1463040"/>
          </a:xfrm>
          <a:prstGeom prst="rect">
            <a:avLst/>
          </a:prstGeom>
          <a:noFill/>
          <a:ln/>
        </p:spPr>
        <p:txBody>
          <a:bodyPr wrap="square" lIns="0" tIns="0" rIns="0" bIns="0" rtlCol="0" anchor="t"/>
          <a:lstStyle/>
          <a:p>
            <a:pPr indent="0" marL="0">
              <a:lnSpc>
                <a:spcPct val="110000"/>
              </a:lnSpc>
              <a:buNone/>
            </a:pPr>
            <a:r>
              <a:rPr lang="en-US" sz="1200" dirty="0">
                <a:solidFill>
                  <a:srgbClr val="5A6472"/>
                </a:solidFill>
                <a:latin typeface="Calibri" pitchFamily="34" charset="0"/>
                <a:ea typeface="Calibri" pitchFamily="34" charset="-122"/>
                <a:cs typeface="Calibri" pitchFamily="34" charset="-120"/>
              </a:rPr>
              <a:t>Other dislocations threading the slip plane. They act as a back stress the moving line has to push against everywhere.</a:t>
            </a:r>
            <a:endParaRPr lang="en-US" sz="1200" dirty="0"/>
          </a:p>
        </p:txBody>
      </p:sp>
      <p:sp>
        <p:nvSpPr>
          <p:cNvPr id="12" name="Shape 10"/>
          <p:cNvSpPr/>
          <p:nvPr/>
        </p:nvSpPr>
        <p:spPr>
          <a:xfrm>
            <a:off x="6300216" y="1444752"/>
            <a:ext cx="2761488" cy="2240280"/>
          </a:xfrm>
          <a:prstGeom prst="roundRect">
            <a:avLst>
              <a:gd name="adj" fmla="val 3265"/>
            </a:avLst>
          </a:prstGeom>
          <a:solidFill>
            <a:srgbClr val="FFFFFF"/>
          </a:solidFill>
          <a:ln w="12700">
            <a:solidFill>
              <a:srgbClr val="C9D3DC"/>
            </a:solidFill>
            <a:prstDash val="solid"/>
          </a:ln>
          <a:effectLst>
            <a:outerShdw sx="100000" sy="100000" kx="0" ky="0" algn="bl" rotWithShape="0" blurRad="76200" dist="12700" dir="5400000">
              <a:srgbClr val="9AA7B4">
                <a:alpha val="25000"/>
              </a:srgbClr>
            </a:outerShdw>
          </a:effectLst>
        </p:spPr>
      </p:sp>
      <p:sp>
        <p:nvSpPr>
          <p:cNvPr id="13" name="Shape 11"/>
          <p:cNvSpPr/>
          <p:nvPr/>
        </p:nvSpPr>
        <p:spPr>
          <a:xfrm>
            <a:off x="6501384" y="1645920"/>
            <a:ext cx="310896" cy="310896"/>
          </a:xfrm>
          <a:prstGeom prst="ellipse">
            <a:avLst/>
          </a:prstGeom>
          <a:solidFill>
            <a:srgbClr val="065A82"/>
          </a:solidFill>
          <a:ln w="12700">
            <a:solidFill>
              <a:srgbClr val="065A82"/>
            </a:solidFill>
            <a:prstDash val="solid"/>
          </a:ln>
        </p:spPr>
      </p:sp>
      <p:sp>
        <p:nvSpPr>
          <p:cNvPr id="14" name="Text 12"/>
          <p:cNvSpPr txBox="1"/>
          <p:nvPr/>
        </p:nvSpPr>
        <p:spPr>
          <a:xfrm>
            <a:off x="6903720" y="1591056"/>
            <a:ext cx="1984248" cy="41148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Boundaries</a:t>
            </a:r>
            <a:endParaRPr lang="en-US" sz="1500" dirty="0"/>
          </a:p>
        </p:txBody>
      </p:sp>
      <p:sp>
        <p:nvSpPr>
          <p:cNvPr id="15" name="Text 13"/>
          <p:cNvSpPr txBox="1"/>
          <p:nvPr/>
        </p:nvSpPr>
        <p:spPr>
          <a:xfrm>
            <a:off x="6519672" y="2066544"/>
            <a:ext cx="2322576" cy="1463040"/>
          </a:xfrm>
          <a:prstGeom prst="rect">
            <a:avLst/>
          </a:prstGeom>
          <a:noFill/>
          <a:ln/>
        </p:spPr>
        <p:txBody>
          <a:bodyPr wrap="square" lIns="0" tIns="0" rIns="0" bIns="0" rtlCol="0" anchor="t"/>
          <a:lstStyle/>
          <a:p>
            <a:pPr indent="0" marL="0">
              <a:lnSpc>
                <a:spcPct val="110000"/>
              </a:lnSpc>
              <a:buNone/>
            </a:pPr>
            <a:r>
              <a:rPr lang="en-US" sz="1200" dirty="0">
                <a:solidFill>
                  <a:srgbClr val="5A6472"/>
                </a:solidFill>
                <a:latin typeface="Calibri" pitchFamily="34" charset="0"/>
                <a:ea typeface="Calibri" pitchFamily="34" charset="-122"/>
                <a:cs typeface="Calibri" pitchFamily="34" charset="-120"/>
              </a:rPr>
              <a:t>Grain, sub-grain and lath boundaries. They store dislocations and shorten the distance a segment can travel before it is stopped.</a:t>
            </a:r>
            <a:endParaRPr lang="en-US" sz="1200" dirty="0"/>
          </a:p>
        </p:txBody>
      </p:sp>
      <p:sp>
        <p:nvSpPr>
          <p:cNvPr id="16" name="Shape 14"/>
          <p:cNvSpPr/>
          <p:nvPr/>
        </p:nvSpPr>
        <p:spPr>
          <a:xfrm>
            <a:off x="9198864" y="1444752"/>
            <a:ext cx="2761488" cy="2240280"/>
          </a:xfrm>
          <a:prstGeom prst="roundRect">
            <a:avLst>
              <a:gd name="adj" fmla="val 3265"/>
            </a:avLst>
          </a:prstGeom>
          <a:solidFill>
            <a:srgbClr val="FFFFFF"/>
          </a:solidFill>
          <a:ln w="12700">
            <a:solidFill>
              <a:srgbClr val="C9D3DC"/>
            </a:solidFill>
            <a:prstDash val="solid"/>
          </a:ln>
          <a:effectLst>
            <a:outerShdw sx="100000" sy="100000" kx="0" ky="0" algn="bl" rotWithShape="0" blurRad="76200" dist="12700" dir="5400000">
              <a:srgbClr val="9AA7B4">
                <a:alpha val="25000"/>
              </a:srgbClr>
            </a:outerShdw>
          </a:effectLst>
        </p:spPr>
      </p:sp>
      <p:sp>
        <p:nvSpPr>
          <p:cNvPr id="17" name="Shape 15"/>
          <p:cNvSpPr/>
          <p:nvPr/>
        </p:nvSpPr>
        <p:spPr>
          <a:xfrm>
            <a:off x="9400032" y="1645920"/>
            <a:ext cx="310896" cy="310896"/>
          </a:xfrm>
          <a:prstGeom prst="ellipse">
            <a:avLst/>
          </a:prstGeom>
          <a:solidFill>
            <a:srgbClr val="C98A16"/>
          </a:solidFill>
          <a:ln w="12700">
            <a:solidFill>
              <a:srgbClr val="C98A16"/>
            </a:solidFill>
            <a:prstDash val="solid"/>
          </a:ln>
        </p:spPr>
      </p:sp>
      <p:sp>
        <p:nvSpPr>
          <p:cNvPr id="18" name="Text 16"/>
          <p:cNvSpPr txBox="1"/>
          <p:nvPr/>
        </p:nvSpPr>
        <p:spPr>
          <a:xfrm>
            <a:off x="9802368" y="1591056"/>
            <a:ext cx="1984248" cy="41148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Solute atmospheres</a:t>
            </a:r>
            <a:endParaRPr lang="en-US" sz="1500" dirty="0"/>
          </a:p>
        </p:txBody>
      </p:sp>
      <p:sp>
        <p:nvSpPr>
          <p:cNvPr id="19" name="Text 17"/>
          <p:cNvSpPr txBox="1"/>
          <p:nvPr/>
        </p:nvSpPr>
        <p:spPr>
          <a:xfrm>
            <a:off x="9418320" y="2066544"/>
            <a:ext cx="2322576" cy="1463040"/>
          </a:xfrm>
          <a:prstGeom prst="rect">
            <a:avLst/>
          </a:prstGeom>
          <a:noFill/>
          <a:ln/>
        </p:spPr>
        <p:txBody>
          <a:bodyPr wrap="square" lIns="0" tIns="0" rIns="0" bIns="0" rtlCol="0" anchor="t"/>
          <a:lstStyle/>
          <a:p>
            <a:pPr indent="0" marL="0">
              <a:lnSpc>
                <a:spcPct val="110000"/>
              </a:lnSpc>
              <a:buNone/>
            </a:pPr>
            <a:r>
              <a:rPr lang="en-US" sz="1200" dirty="0">
                <a:solidFill>
                  <a:srgbClr val="5A6472"/>
                </a:solidFill>
                <a:latin typeface="Calibri" pitchFamily="34" charset="0"/>
                <a:ea typeface="Calibri" pitchFamily="34" charset="-122"/>
                <a:cs typeface="Calibri" pitchFamily="34" charset="-120"/>
              </a:rPr>
              <a:t>Interstitial solutes diffusing to a waiting segment. Slower deformation means more time to age, which is dynamic strain aging.</a:t>
            </a:r>
            <a:endParaRPr lang="en-US" sz="1200" dirty="0"/>
          </a:p>
        </p:txBody>
      </p:sp>
      <p:sp>
        <p:nvSpPr>
          <p:cNvPr id="20" name="Shape 18"/>
          <p:cNvSpPr/>
          <p:nvPr/>
        </p:nvSpPr>
        <p:spPr>
          <a:xfrm>
            <a:off x="502920" y="3877056"/>
            <a:ext cx="2761488" cy="2240280"/>
          </a:xfrm>
          <a:prstGeom prst="roundRect">
            <a:avLst>
              <a:gd name="adj" fmla="val 3265"/>
            </a:avLst>
          </a:prstGeom>
          <a:solidFill>
            <a:srgbClr val="FFFFFF"/>
          </a:solidFill>
          <a:ln w="12700">
            <a:solidFill>
              <a:srgbClr val="C9D3DC"/>
            </a:solidFill>
            <a:prstDash val="solid"/>
          </a:ln>
          <a:effectLst>
            <a:outerShdw sx="100000" sy="100000" kx="0" ky="0" algn="bl" rotWithShape="0" blurRad="76200" dist="12700" dir="5400000">
              <a:srgbClr val="9AA7B4">
                <a:alpha val="25000"/>
              </a:srgbClr>
            </a:outerShdw>
          </a:effectLst>
        </p:spPr>
      </p:sp>
      <p:sp>
        <p:nvSpPr>
          <p:cNvPr id="21" name="Shape 19"/>
          <p:cNvSpPr/>
          <p:nvPr/>
        </p:nvSpPr>
        <p:spPr>
          <a:xfrm>
            <a:off x="704088" y="4078224"/>
            <a:ext cx="310896" cy="310896"/>
          </a:xfrm>
          <a:prstGeom prst="ellipse">
            <a:avLst/>
          </a:prstGeom>
          <a:solidFill>
            <a:srgbClr val="B85042"/>
          </a:solidFill>
          <a:ln w="12700">
            <a:solidFill>
              <a:srgbClr val="B85042"/>
            </a:solidFill>
            <a:prstDash val="solid"/>
          </a:ln>
        </p:spPr>
      </p:sp>
      <p:sp>
        <p:nvSpPr>
          <p:cNvPr id="22" name="Text 20"/>
          <p:cNvSpPr txBox="1"/>
          <p:nvPr/>
        </p:nvSpPr>
        <p:spPr>
          <a:xfrm>
            <a:off x="1106424" y="4023360"/>
            <a:ext cx="1984248" cy="41148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Particle detachment</a:t>
            </a:r>
            <a:endParaRPr lang="en-US" sz="1500" dirty="0"/>
          </a:p>
        </p:txBody>
      </p:sp>
      <p:sp>
        <p:nvSpPr>
          <p:cNvPr id="23" name="Text 21"/>
          <p:cNvSpPr txBox="1"/>
          <p:nvPr/>
        </p:nvSpPr>
        <p:spPr>
          <a:xfrm>
            <a:off x="722376" y="4498848"/>
            <a:ext cx="2322576" cy="1463040"/>
          </a:xfrm>
          <a:prstGeom prst="rect">
            <a:avLst/>
          </a:prstGeom>
          <a:noFill/>
          <a:ln/>
        </p:spPr>
        <p:txBody>
          <a:bodyPr wrap="square" lIns="0" tIns="0" rIns="0" bIns="0" rtlCol="0" anchor="t"/>
          <a:lstStyle/>
          <a:p>
            <a:pPr indent="0" marL="0">
              <a:lnSpc>
                <a:spcPct val="110000"/>
              </a:lnSpc>
              <a:buNone/>
            </a:pPr>
            <a:r>
              <a:rPr lang="en-US" sz="1200" dirty="0">
                <a:solidFill>
                  <a:srgbClr val="5A6472"/>
                </a:solidFill>
                <a:latin typeface="Calibri" pitchFamily="34" charset="0"/>
                <a:ea typeface="Calibri" pitchFamily="34" charset="-122"/>
                <a:cs typeface="Calibri" pitchFamily="34" charset="-120"/>
              </a:rPr>
              <a:t>Thermal activation lets a pinned segment break away from a second-phase particle once it has bowed out far enough.</a:t>
            </a:r>
            <a:endParaRPr lang="en-US" sz="1200" dirty="0"/>
          </a:p>
        </p:txBody>
      </p:sp>
      <p:sp>
        <p:nvSpPr>
          <p:cNvPr id="24" name="Shape 22"/>
          <p:cNvSpPr/>
          <p:nvPr/>
        </p:nvSpPr>
        <p:spPr>
          <a:xfrm>
            <a:off x="3401568" y="3877056"/>
            <a:ext cx="2761488" cy="2240280"/>
          </a:xfrm>
          <a:prstGeom prst="roundRect">
            <a:avLst>
              <a:gd name="adj" fmla="val 3265"/>
            </a:avLst>
          </a:prstGeom>
          <a:solidFill>
            <a:srgbClr val="FFFFFF"/>
          </a:solidFill>
          <a:ln w="12700">
            <a:solidFill>
              <a:srgbClr val="C9D3DC"/>
            </a:solidFill>
            <a:prstDash val="solid"/>
          </a:ln>
          <a:effectLst>
            <a:outerShdw sx="100000" sy="100000" kx="0" ky="0" algn="bl" rotWithShape="0" blurRad="76200" dist="12700" dir="5400000">
              <a:srgbClr val="9AA7B4">
                <a:alpha val="25000"/>
              </a:srgbClr>
            </a:outerShdw>
          </a:effectLst>
        </p:spPr>
      </p:sp>
      <p:sp>
        <p:nvSpPr>
          <p:cNvPr id="25" name="Shape 23"/>
          <p:cNvSpPr/>
          <p:nvPr/>
        </p:nvSpPr>
        <p:spPr>
          <a:xfrm>
            <a:off x="3602736" y="4078224"/>
            <a:ext cx="310896" cy="310896"/>
          </a:xfrm>
          <a:prstGeom prst="ellipse">
            <a:avLst/>
          </a:prstGeom>
          <a:solidFill>
            <a:srgbClr val="8E4162"/>
          </a:solidFill>
          <a:ln w="12700">
            <a:solidFill>
              <a:srgbClr val="8E4162"/>
            </a:solidFill>
            <a:prstDash val="solid"/>
          </a:ln>
        </p:spPr>
      </p:sp>
      <p:sp>
        <p:nvSpPr>
          <p:cNvPr id="26" name="Text 24"/>
          <p:cNvSpPr txBox="1"/>
          <p:nvPr/>
        </p:nvSpPr>
        <p:spPr>
          <a:xfrm>
            <a:off x="4005072" y="4023360"/>
            <a:ext cx="1984248" cy="41148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Local climb</a:t>
            </a:r>
            <a:endParaRPr lang="en-US" sz="1500" dirty="0"/>
          </a:p>
        </p:txBody>
      </p:sp>
      <p:sp>
        <p:nvSpPr>
          <p:cNvPr id="27" name="Text 25"/>
          <p:cNvSpPr txBox="1"/>
          <p:nvPr/>
        </p:nvSpPr>
        <p:spPr>
          <a:xfrm>
            <a:off x="3621024" y="4498848"/>
            <a:ext cx="2322576" cy="1463040"/>
          </a:xfrm>
          <a:prstGeom prst="rect">
            <a:avLst/>
          </a:prstGeom>
          <a:noFill/>
          <a:ln/>
        </p:spPr>
        <p:txBody>
          <a:bodyPr wrap="square" lIns="0" tIns="0" rIns="0" bIns="0" rtlCol="0" anchor="t"/>
          <a:lstStyle/>
          <a:p>
            <a:pPr indent="0" marL="0">
              <a:lnSpc>
                <a:spcPct val="110000"/>
              </a:lnSpc>
              <a:buNone/>
            </a:pPr>
            <a:r>
              <a:rPr lang="en-US" sz="1200" dirty="0">
                <a:solidFill>
                  <a:srgbClr val="5A6472"/>
                </a:solidFill>
                <a:latin typeface="Calibri" pitchFamily="34" charset="0"/>
                <a:ea typeface="Calibri" pitchFamily="34" charset="-122"/>
                <a:cs typeface="Calibri" pitchFamily="34" charset="-120"/>
              </a:rPr>
              <a:t>The other escape: the line climbs over the particle. It needs diffusion, so it takes over when it is hot and the loading is slow.</a:t>
            </a:r>
            <a:endParaRPr lang="en-US" sz="1200" dirty="0"/>
          </a:p>
        </p:txBody>
      </p:sp>
      <p:sp>
        <p:nvSpPr>
          <p:cNvPr id="28" name="Shape 26"/>
          <p:cNvSpPr/>
          <p:nvPr/>
        </p:nvSpPr>
        <p:spPr>
          <a:xfrm>
            <a:off x="6300216" y="3877056"/>
            <a:ext cx="2761488" cy="2240280"/>
          </a:xfrm>
          <a:prstGeom prst="roundRect">
            <a:avLst>
              <a:gd name="adj" fmla="val 3265"/>
            </a:avLst>
          </a:prstGeom>
          <a:solidFill>
            <a:srgbClr val="FFFFFF"/>
          </a:solidFill>
          <a:ln w="12700">
            <a:solidFill>
              <a:srgbClr val="C9D3DC"/>
            </a:solidFill>
            <a:prstDash val="solid"/>
          </a:ln>
          <a:effectLst>
            <a:outerShdw sx="100000" sy="100000" kx="0" ky="0" algn="bl" rotWithShape="0" blurRad="76200" dist="12700" dir="5400000">
              <a:srgbClr val="9AA7B4">
                <a:alpha val="25000"/>
              </a:srgbClr>
            </a:outerShdw>
          </a:effectLst>
        </p:spPr>
      </p:sp>
      <p:sp>
        <p:nvSpPr>
          <p:cNvPr id="29" name="Shape 27"/>
          <p:cNvSpPr/>
          <p:nvPr/>
        </p:nvSpPr>
        <p:spPr>
          <a:xfrm>
            <a:off x="6501384" y="4078224"/>
            <a:ext cx="310896" cy="310896"/>
          </a:xfrm>
          <a:prstGeom prst="ellipse">
            <a:avLst/>
          </a:prstGeom>
          <a:solidFill>
            <a:srgbClr val="2C6E63"/>
          </a:solidFill>
          <a:ln w="12700">
            <a:solidFill>
              <a:srgbClr val="2C6E63"/>
            </a:solidFill>
            <a:prstDash val="solid"/>
          </a:ln>
        </p:spPr>
      </p:sp>
      <p:sp>
        <p:nvSpPr>
          <p:cNvPr id="30" name="Text 28"/>
          <p:cNvSpPr txBox="1"/>
          <p:nvPr/>
        </p:nvSpPr>
        <p:spPr>
          <a:xfrm>
            <a:off x="6903720" y="4023360"/>
            <a:ext cx="1984248" cy="41148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Recovery</a:t>
            </a:r>
            <a:endParaRPr lang="en-US" sz="1500" dirty="0"/>
          </a:p>
        </p:txBody>
      </p:sp>
      <p:sp>
        <p:nvSpPr>
          <p:cNvPr id="31" name="Text 29"/>
          <p:cNvSpPr txBox="1"/>
          <p:nvPr/>
        </p:nvSpPr>
        <p:spPr>
          <a:xfrm>
            <a:off x="6519672" y="4498848"/>
            <a:ext cx="2322576" cy="1463040"/>
          </a:xfrm>
          <a:prstGeom prst="rect">
            <a:avLst/>
          </a:prstGeom>
          <a:noFill/>
          <a:ln/>
        </p:spPr>
        <p:txBody>
          <a:bodyPr wrap="square" lIns="0" tIns="0" rIns="0" bIns="0" rtlCol="0" anchor="t"/>
          <a:lstStyle/>
          <a:p>
            <a:pPr indent="0" marL="0">
              <a:lnSpc>
                <a:spcPct val="110000"/>
              </a:lnSpc>
              <a:buNone/>
            </a:pPr>
            <a:r>
              <a:rPr lang="en-US" sz="1200" dirty="0">
                <a:solidFill>
                  <a:srgbClr val="5A6472"/>
                </a:solidFill>
                <a:latin typeface="Calibri" pitchFamily="34" charset="0"/>
                <a:ea typeface="Calibri" pitchFamily="34" charset="-122"/>
                <a:cs typeface="Calibri" pitchFamily="34" charset="-120"/>
              </a:rPr>
              <a:t>Stored dislocations annihilate: by cross slip as the crystal deforms, and by climb, which keeps going whether or not it deforms.</a:t>
            </a:r>
            <a:endParaRPr lang="en-US" sz="1200" dirty="0"/>
          </a:p>
        </p:txBody>
      </p:sp>
      <p:sp>
        <p:nvSpPr>
          <p:cNvPr id="32" name="Shape 30"/>
          <p:cNvSpPr/>
          <p:nvPr/>
        </p:nvSpPr>
        <p:spPr>
          <a:xfrm>
            <a:off x="9198864" y="3877056"/>
            <a:ext cx="2761488" cy="2240280"/>
          </a:xfrm>
          <a:prstGeom prst="roundRect">
            <a:avLst>
              <a:gd name="adj" fmla="val 3265"/>
            </a:avLst>
          </a:prstGeom>
          <a:solidFill>
            <a:srgbClr val="FFFFFF"/>
          </a:solidFill>
          <a:ln w="12700">
            <a:solidFill>
              <a:srgbClr val="C9D3DC"/>
            </a:solidFill>
            <a:prstDash val="solid"/>
          </a:ln>
          <a:effectLst>
            <a:outerShdw sx="100000" sy="100000" kx="0" ky="0" algn="bl" rotWithShape="0" blurRad="76200" dist="12700" dir="5400000">
              <a:srgbClr val="9AA7B4">
                <a:alpha val="25000"/>
              </a:srgbClr>
            </a:outerShdw>
          </a:effectLst>
        </p:spPr>
      </p:sp>
      <p:sp>
        <p:nvSpPr>
          <p:cNvPr id="33" name="Shape 31"/>
          <p:cNvSpPr/>
          <p:nvPr/>
        </p:nvSpPr>
        <p:spPr>
          <a:xfrm>
            <a:off x="9400032" y="4078224"/>
            <a:ext cx="310896" cy="310896"/>
          </a:xfrm>
          <a:prstGeom prst="ellipse">
            <a:avLst/>
          </a:prstGeom>
          <a:solidFill>
            <a:srgbClr val="5A6472"/>
          </a:solidFill>
          <a:ln w="12700">
            <a:solidFill>
              <a:srgbClr val="5A6472"/>
            </a:solidFill>
            <a:prstDash val="solid"/>
          </a:ln>
        </p:spPr>
      </p:sp>
      <p:sp>
        <p:nvSpPr>
          <p:cNvPr id="34" name="Text 32"/>
          <p:cNvSpPr txBox="1"/>
          <p:nvPr/>
        </p:nvSpPr>
        <p:spPr>
          <a:xfrm>
            <a:off x="9802368" y="4023360"/>
            <a:ext cx="1984248" cy="41148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Diffusional flow</a:t>
            </a:r>
            <a:endParaRPr lang="en-US" sz="1500" dirty="0"/>
          </a:p>
        </p:txBody>
      </p:sp>
      <p:sp>
        <p:nvSpPr>
          <p:cNvPr id="35" name="Text 33"/>
          <p:cNvSpPr txBox="1"/>
          <p:nvPr/>
        </p:nvSpPr>
        <p:spPr>
          <a:xfrm>
            <a:off x="9418320" y="4498848"/>
            <a:ext cx="2322576" cy="1463040"/>
          </a:xfrm>
          <a:prstGeom prst="rect">
            <a:avLst/>
          </a:prstGeom>
          <a:noFill/>
          <a:ln/>
        </p:spPr>
        <p:txBody>
          <a:bodyPr wrap="square" lIns="0" tIns="0" rIns="0" bIns="0" rtlCol="0" anchor="t"/>
          <a:lstStyle/>
          <a:p>
            <a:pPr indent="0" marL="0">
              <a:lnSpc>
                <a:spcPct val="110000"/>
              </a:lnSpc>
              <a:buNone/>
            </a:pPr>
            <a:r>
              <a:rPr lang="en-US" sz="1200" dirty="0">
                <a:solidFill>
                  <a:srgbClr val="5A6472"/>
                </a:solidFill>
                <a:latin typeface="Calibri" pitchFamily="34" charset="0"/>
                <a:ea typeface="Calibri" pitchFamily="34" charset="-122"/>
                <a:cs typeface="Calibri" pitchFamily="34" charset="-120"/>
              </a:rPr>
              <a:t>Matter moving through the grains and along the boundaries rather than dislocations moving. A separate carrier that only matters at very low stress.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2026-09-17T19:19:52Z</dcterms:created>
  <dcterms:modified xsi:type="dcterms:W3CDTF">2026-09-17T19:19:52Z</dcterms:modified>
</cp:coreProperties>
</file>